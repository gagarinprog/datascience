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55eae59-632e-9b24-dbe5-0961fc7192b3}">
          <p14:sldIdLst>
            <p14:sldId id="256"/>
            <p14:sldId id="257"/>
          </p14:sldIdLst>
        </p14:section>
        <p14:section name="A lógica do projeto" id="{b2b48ed0-fd92-a91b-0ba4-40871f4dbb94}">
          <p14:sldIdLst>
            <p14:sldId id="258"/>
            <p14:sldId id="259"/>
            <p14:sldId id="260"/>
            <p14:sldId id="261"/>
            <p14:sldId id="262"/>
          </p14:sldIdLst>
        </p14:section>
        <p14:section name="As linguagens" id="{959b936a-4a85-75b4-d4e2-5f833b0494e4}">
          <p14:sldIdLst>
            <p14:sldId id="263"/>
            <p14:sldId id="264"/>
            <p14:sldId id="265"/>
            <p14:sldId id="266"/>
          </p14:sldIdLst>
        </p14:section>
        <p14:section name="Os repositórios" id="{9359c91a-6ce9-0f20-9170-40140161298b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O castelo por dentro" id="{9a539224-5e9e-ca9c-8f03-a42f91af4c83}">
          <p14:sldIdLst>
            <p14:sldId id="275"/>
            <p14:sldId id="276"/>
            <p14:sldId id="277"/>
            <p14:sldId id="278"/>
            <p14:sldId id="279"/>
          </p14:sldIdLst>
        </p14:section>
        <p14:section name="Base de Python" id="{b7fdc5fb-c5f6-8513-4234-a17ff1051129}">
          <p14:sldIdLst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Próximos passos" id="{e7965438-5067-5e38-131b-08a1759ed8b4}">
          <p14:sldIdLst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4171F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4171F"/>
                </a:solidFill>
                <a:latin typeface="+mn-lt"/>
              </a:rPr>
              <a:t>Taxa de acerto por matéria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acerto (%)</c:v>
                </c:pt>
              </c:strCache>
            </c:strRef>
          </c:tx>
          <c:spPr>
            <a:solidFill>
              <a:srgbClr val="2457D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17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Informática</c:v>
                  </c:pt>
                  <c:pt idx="1">
                    <c:v>Estatística</c:v>
                  </c:pt>
                  <c:pt idx="2">
                    <c:v>Banco de Dados</c:v>
                  </c:pt>
                  <c:pt idx="3">
                    <c:v>Língua Portuguesa</c:v>
                  </c:pt>
                  <c:pt idx="4">
                    <c:v>Raciocínio Lógico</c:v>
                  </c:pt>
                  <c:pt idx="5">
                    <c:v>Direito Administrativo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53.6</c:v>
                </c:pt>
                <c:pt idx="1">
                  <c:v>50.9</c:v>
                </c:pt>
                <c:pt idx="2">
                  <c:v>50.7</c:v>
                </c:pt>
                <c:pt idx="3">
                  <c:v>50</c:v>
                </c:pt>
                <c:pt idx="4">
                  <c:v>47.4</c:v>
                </c:pt>
                <c:pt idx="5">
                  <c:v>40.4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417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7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apresentação é material de estudo, não de palco: leia no seu ritmo. Cada slide tem uma ideia. As notas abaixo de cada slide explicam o que não coube na tela. O objetivo é que você comece a entender o código do Domínio enquanto ele é construído.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tiver pouco tempo, leia a parte 1 (a lógica) e a parte 5 (Python). As partes 2 a 4 são consulta: volte a elas quando for mexer numa área.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programa é uma sequência de decisões pequenas. Nesta parte, o Domínio aparece como um sistema: o que você vê, o que reage e o que guarda.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página da apostila tem as três camadas. Quando algo está feio, o problema está no CSS. Quando um botão não faz nada, está no JavaScript. Quando o progresso some, está na memória: o localStorage é apagado quando você limpa os dados do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apostila é a parte que você usa e a que mais muda. O app Next.js é a versão futura, com servidor e login. A regra prática: experimentar na apostila, que é simples, e levar para o app o que deu certo.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desenho de quase todo exercício do Domínio: entrada, processamento, conferência, retorno, memória. Quando algo der errado, descubra em qual dos seis passos parou. Exemplo: se o retorno diz 'O banco recusou', parou no passo 3; se diz 'O resultado tem 6 linhas; o esperado tem 5', o passo 3 funcionou e a conferência do passo 4 achou a diferença.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comandos do dia a dia: git pull (traz o que mudou na nuvem), git add e git commit -m "Adiciona tal coisa" (tira a foto), git push (envia). O GitHub faz o resto sozinho em cerca de 2 minutos. O site atualizado chega ao celular na próxima vez que você abrir o app com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preciso dominar as seis. HTML e CSS você lê; JavaScript você reconhece; SQL e Python são as do seu curso e das provas, e é nelas que o Domínio investe.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Repare que SQL aparece dentro de um arquivo JavaScript (salas.js): o roteiro das salas guarda o SQL como texto, e o JavaScript entrega esse texto ao banco. É comum uma linguagem carregar outra assim. TypeScript é JavaScript com etiquetas de tipo: o computador avisa antes de rodar quando você usa um número onde devia ir um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SQL, CASE WHEN transforma verdadeiro em 100 e falso em 0, e a média desses números já é a porcentagem. No Python, o for passa por cada valor e o if só deixa somar quando é True. No JavaScript, Math.round(t * 1000) / 10 é o jeito de arredondar com uma casa: 0,6667 vira 666,7, arredonda para 667 e divide por 10, dando 66,7.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seta mostra o caminho do código: nasce no seu computador, é conferido no GitHub e roda no navegador. O SQL e o Python que você escreve no castelo nunca passam por um servidor: rodam dentro da página, por WebAssembly.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Repositório é a pasta de um projeto no GitHub, com todo o histórico. Usar o repositório de outra pessoa é usar o trabalho dela: por isso cada um aqui aparece com a licença, que diz o que é permitido.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repositórios fazem o trabalho pesado sem servidor: PGlite, Pyodide e ts-fsrs. Os de animação só valem a pena quando houver desenho ou narração feitos para eles. Os modelos de exercício serviram de inspiração: as ideias deles foram reescritas no visual do Domínio, com menos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PostgreSQL e não SQLite? Porque é o banco do curso e das provas, e o SQLite aceita coisas que o PostgreSQL recusa, como texto entre aspas duplas. Errar no navegador do mesmo jeito que se erraria na prova é parte do aprendizado. O 'idb://' no nome manda guardar no IndexedDB: por isso o banco continua lá quando você recarrega 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Pyodide é pesado: o Python vem inteiro, com a biblioteca padrão. Por isso o castelo só o carrega quando você chega numa sala de Python, e o service worker guarda os arquivos para a próxima vez. A licença é MPL 2.0: pode usar livremente; se modificar os arquivos do próprio Pyodide, as modificações ficam abertas.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Estabilidade é quantos dias a lembrança dura; dificuldade é o quanto a questão custa para você; recuperabilidade é a chance de lembrar hoje. O FSRS agenda a revisão para o dia em que essa chance cai para cerca de 90%. A biblioteca ts-fsrs tem licença MIT e é a mesma família de algoritmo usada no Anki.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biblioteca nova pesa no carregamento e precisa de manutenção. A regra do projeto é não adicionar dependência sem dizer por quê. A animação nativa do navegador, chamada Web Animations API, já faz o que o castelo precisa: a parte construída sobe para o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Copiar uma ideia de formato é diferente de copiar código. Aqui só as ideias vieram: o código foi escrito no visual e nas regras do Domínio, com menos peso. O Online Python Tutor, por exemplo, roda o Python num servidor; o relógio do castelo faz a mesma coisa dentro do navegador, com sys.settrace.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Licença é o contrato de uso. CC0 é domínio público: use como quiser. CC BY 4.0 permite tudo, desde que o nome do autor apareça. MIT vale para código: use, mude e distribua mantendo o aviso de licença. A mesma palavra (seed) gera sempre o mesmo avatar: é assim que cada guia pode ter um rosto fixo sem guardar imagem nenhuma.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vez de 10 exemplos soltos, cada ferramenta virou uma sala que constrói uma parte do mesmo banco. No fim, o banco está criado e analisado, e você pode baixá-lo.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sala abre com uma apresentação curta (por que estudar, a ideia em palavras simples, um exemplo) e depois tem de duas a quatro tarefas que só abrem em ordem. A primeira sala de cada fase mostra por que aquela fase importa. Quem já sabe pode fazer o nivelamento direto e pular 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sala nova é quase só texto: o motor (castelo.js) já sabe montar cada tipo de tarefa. Para criar uma tarefa SQL, basta escrever o enunciado, o código inicial, a consulta oficial, a pista e a solução. O teste do CI roda a solução num PostgreSQL de verdade e confere que ela bate com o gabarito.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o texto obrigaria você a escrever exatamente como o gabarito, com os mesmos espaços e a mesma ordem das condições. No trabalho, ninguém confere assim: o que importa é o dado certo. A consulta C mostra um erro sutil e comum: sem o segundo critério do ORDER BY, questões do mesmo nível podem vir em qualquer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números saem do banco que você constrói, com dados inventados. A análise boa não para no gráfico: pergunta se a diferença é grande o bastante para não ser acaso. Isso é Estatística, a matéria que vem depois no percurso.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não é decorar: é reconhecer as peças quando aparecem num arquivo de verdade. Os três exemplos desta parte são arquivos do próprio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é o 'vazio' do Python, o mesmo papel do NULL no banco. Por isso se testa com 'is None', e não com '== None': é a mesma regra do IS NULL no SQL. Os dois-pontos no fim de def, if e for anunciam que vem um bloco recuado.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arquivo que cria o banco de estudo usado em todo o projeto. Vale ler inteiro: cada bloco tem um comentário. Ele usa random para sortear quem acerta, datetime para as datas e pathlib para salvar o arquivo. Para rodar: python -I apostila/licoes/dados/gerar_estudo.py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função que você entrega para outra chamar depois se chama callback. Aqui, rastro é o callback: você não chama rastro; o Python chama, a cada linha. Isso é o mesmo que o Online Python Tutor faz num servidor, só que dentro do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linha de pandas da esquerda para a direita, como uma frase: pegue a tabela, agrupe por matéria, olhe a coluna acertou, tire a média, me diga qual é a menor. O SQL faz o mesmo, mas exige juntar as três tabelas antes, porque no banco a matéria mora em outra tabela.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 por dia, 15 minutos cada. O primeiro ensina a rodar um script e a ler um diff. O segundo é a mesma ideia da sala 10 do castelo, sem a ajuda do editor. O terceiro mostra que teste também é código que se lê, e que ele existe para impedir que um erro volte.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Volte a esta tabela quando uma palavra travar a leitura de um slide ou de um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vai do mais barato e visível ao mais caro. Os passos 3 e 4 reaproveitam o que o castelo já provou: o mesmo banco, a mesma correção pelo resultado, o mesmo Python no navegador. O passo 5 leva tudo para o app Next.js quando a apostila estiver redonda.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0D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8412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73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Domínio por dentro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Domínio por dentro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Como o app funciona, onde entra cada linguagem e o que cada repositório acrescenta. Para aprender programando o próprio app.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Material de estudo · outubro de 2026 · repositório gagarinprog/datascience</a:t>
            </a:r>
            <a:endParaRPr lang="en-US" sz="1400" dirty="0"/>
          </a:p>
        </p:txBody>
      </p:sp>
      <p:pic>
        <p:nvPicPr>
          <p:cNvPr id="5" name="castel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73736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você vai ver</a:t>
            </a:r>
            <a:endParaRPr lang="en-US" sz="3200" dirty="0"/>
          </a:p>
        </p:txBody>
      </p:sp>
      <p:sp>
        <p:nvSpPr>
          <p:cNvPr id="3" name="parte 1"/>
          <p:cNvSpPr/>
          <p:nvPr/>
        </p:nvSpPr>
        <p:spPr>
          <a:xfrm>
            <a:off x="548640" y="146304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PiFlowArrowDuotone círculo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FlowArrow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85074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 lógica do projeto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Três camadas e o caminho de um clique</a:t>
            </a:r>
            <a:endParaRPr lang="en-US" sz="1500" dirty="0"/>
          </a:p>
        </p:txBody>
      </p:sp>
      <p:sp>
        <p:nvSpPr>
          <p:cNvPr id="9" name="parte 2"/>
          <p:cNvSpPr/>
          <p:nvPr/>
        </p:nvSpPr>
        <p:spPr>
          <a:xfrm>
            <a:off x="4297680" y="146304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PiCodeDuotone círculo"/>
          <p:cNvSpPr/>
          <p:nvPr/>
        </p:nvSpPr>
        <p:spPr>
          <a:xfrm>
            <a:off x="4572000" y="1737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iCode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1850746"/>
            <a:ext cx="340157" cy="34015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Parte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30352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As linguagens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Seis linguagens, cada uma com um papel</a:t>
            </a:r>
            <a:endParaRPr lang="en-US" sz="1500" dirty="0"/>
          </a:p>
        </p:txBody>
      </p:sp>
      <p:sp>
        <p:nvSpPr>
          <p:cNvPr id="15" name="parte 3"/>
          <p:cNvSpPr/>
          <p:nvPr/>
        </p:nvSpPr>
        <p:spPr>
          <a:xfrm>
            <a:off x="8046720" y="146304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PiPuzzlePieceDuotone círculo"/>
          <p:cNvSpPr/>
          <p:nvPr/>
        </p:nvSpPr>
        <p:spPr>
          <a:xfrm>
            <a:off x="8321040" y="1737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iPuzzlePiece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1850746"/>
            <a:ext cx="340157" cy="34015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Parte 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05256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Os repositórios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606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Onde já estão, onde mexer e o que acrescentam</a:t>
            </a:r>
            <a:endParaRPr lang="en-US" sz="1500" dirty="0"/>
          </a:p>
        </p:txBody>
      </p:sp>
      <p:sp>
        <p:nvSpPr>
          <p:cNvPr id="21" name="parte 4"/>
          <p:cNvSpPr/>
          <p:nvPr/>
        </p:nvSpPr>
        <p:spPr>
          <a:xfrm>
            <a:off x="548640" y="379476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2" name="PiCastleTurretDuotone círculo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PiCastleTurret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4182466"/>
            <a:ext cx="340157" cy="34015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Parte 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554480" y="4361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O castelo por dentro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Os 10 exemplos viraram as 12 salas</a:t>
            </a:r>
            <a:endParaRPr lang="en-US" sz="1500" dirty="0"/>
          </a:p>
        </p:txBody>
      </p:sp>
      <p:sp>
        <p:nvSpPr>
          <p:cNvPr id="27" name="parte 5"/>
          <p:cNvSpPr/>
          <p:nvPr/>
        </p:nvSpPr>
        <p:spPr>
          <a:xfrm>
            <a:off x="4297680" y="379476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8" name="PiFilePyDuotone círculo"/>
          <p:cNvSpPr/>
          <p:nvPr/>
        </p:nvSpPr>
        <p:spPr>
          <a:xfrm>
            <a:off x="457200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PiFilePyDuot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386" y="4182466"/>
            <a:ext cx="340157" cy="34015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30352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Parte 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303520" y="4361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Base de Python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Ler o código do projeto linha a linha</a:t>
            </a:r>
            <a:endParaRPr lang="en-US" sz="1500" dirty="0"/>
          </a:p>
        </p:txBody>
      </p:sp>
      <p:sp>
        <p:nvSpPr>
          <p:cNvPr id="33" name="parte 6"/>
          <p:cNvSpPr/>
          <p:nvPr/>
        </p:nvSpPr>
        <p:spPr>
          <a:xfrm>
            <a:off x="8046720" y="379476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34" name="PiMapTrifoldDuotone círculo"/>
          <p:cNvSpPr/>
          <p:nvPr/>
        </p:nvSpPr>
        <p:spPr>
          <a:xfrm>
            <a:off x="832104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PiMapTrifoldDuot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426" y="4182466"/>
            <a:ext cx="340157" cy="34015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052560" y="4096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Parte 6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9052560" y="4361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A ordem recomendada para mexer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Parte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lógica do projeto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Antes do código: o que o app faz quando você toca num botão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camadas: o que se vê, o que reage, o que guarda</a:t>
            </a:r>
            <a:endParaRPr lang="en-US" sz="3200" dirty="0"/>
          </a:p>
        </p:txBody>
      </p:sp>
      <p:sp>
        <p:nvSpPr>
          <p:cNvPr id="3" name="Estrutura e visual"/>
          <p:cNvSpPr/>
          <p:nvPr/>
        </p:nvSpPr>
        <p:spPr>
          <a:xfrm>
            <a:off x="548640" y="1417320"/>
            <a:ext cx="347472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" name="PiEyeDuotone círculo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Eye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8050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Estrutura e visual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HTML diz o que existe na tela: um título, um botão, uma caixa de código. CSS diz como aparece: cor, fonte, espaço.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· castelo.css</a:t>
            </a:r>
            <a:endParaRPr lang="en-US" sz="1200" dirty="0"/>
          </a:p>
        </p:txBody>
      </p:sp>
      <p:sp>
        <p:nvSpPr>
          <p:cNvPr id="9" name="Comportamento"/>
          <p:cNvSpPr/>
          <p:nvPr/>
        </p:nvSpPr>
        <p:spPr>
          <a:xfrm>
            <a:off x="4297680" y="1417320"/>
            <a:ext cx="347472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0" name="PiLightningDuotone círculo"/>
          <p:cNvSpPr/>
          <p:nvPr/>
        </p:nvSpPr>
        <p:spPr>
          <a:xfrm>
            <a:off x="457200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iLightning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1805026"/>
            <a:ext cx="340157" cy="34015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Comportamento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JavaScript reage ao toque: confere a resposta, mostra o retorno e abre a próxima tarefa.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licoes/motor.js · castelo/castelo.js</a:t>
            </a:r>
            <a:endParaRPr lang="en-US" sz="1200" dirty="0"/>
          </a:p>
        </p:txBody>
      </p:sp>
      <p:sp>
        <p:nvSpPr>
          <p:cNvPr id="15" name="Memória"/>
          <p:cNvSpPr/>
          <p:nvPr/>
        </p:nvSpPr>
        <p:spPr>
          <a:xfrm>
            <a:off x="8046720" y="1417320"/>
            <a:ext cx="347472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6" name="PiArchiveDuotone círculo"/>
          <p:cNvSpPr/>
          <p:nvPr/>
        </p:nvSpPr>
        <p:spPr>
          <a:xfrm>
            <a:off x="832104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iArchive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1805026"/>
            <a:ext cx="340157" cy="34015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Memória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8803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progresso fica guardado no navegador; o banco do castelo, no IndexedDB do aparelho. Nada vai para um servidor.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 · IndexedDB</a:t>
            </a:r>
            <a:endParaRPr lang="en-US" sz="1200" dirty="0"/>
          </a:p>
        </p:txBody>
      </p:sp>
      <p:sp>
        <p:nvSpPr>
          <p:cNvPr id="21" name="comparação com app de delivery círculo"/>
          <p:cNvSpPr/>
          <p:nvPr/>
        </p:nvSpPr>
        <p:spPr>
          <a:xfrm>
            <a:off x="548640" y="5193792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2" name="PiStorefront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5294376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52303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No dia a dia: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num app de delivery, o cardápio na tela é HTML e CSS; o botão que soma o pedido é JavaScript; o histórico de pedidos é a memória.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mora em cada pasta</a:t>
            </a:r>
            <a:endParaRPr lang="en-US" sz="3200" dirty="0"/>
          </a:p>
        </p:txBody>
      </p:sp>
      <p:sp>
        <p:nvSpPr>
          <p:cNvPr id="3" name="bloco de código"/>
          <p:cNvSpPr/>
          <p:nvPr/>
        </p:nvSpPr>
        <p:spPr>
          <a:xfrm>
            <a:off x="548640" y="1417320"/>
            <a:ext cx="6035040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código"/>
          <p:cNvSpPr txBox="1"/>
          <p:nvPr/>
        </p:nvSpPr>
        <p:spPr>
          <a:xfrm>
            <a:off x="713232" y="1563624"/>
            <a:ext cx="570585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datascience/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apostila/       o site que você usa hoje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index.html  o mapa de formação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licoes/     lições, motor.js, clip.js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castelo/    o laboratório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sw.js       guarda tudo para offline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  lib/      o app Next.js (futuro)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tutor/          Python do /aula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    testes automáticos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docs/           os documentos do projeto</a:t>
            </a:r>
            <a:endParaRPr lang="en-US" sz="1400" dirty="0"/>
          </a:p>
        </p:txBody>
      </p:sp>
      <p:sp>
        <p:nvSpPr>
          <p:cNvPr id="5" name="PiBrowserDuotone círculo"/>
          <p:cNvSpPr/>
          <p:nvPr/>
        </p:nvSpPr>
        <p:spPr>
          <a:xfrm>
            <a:off x="6949440" y="1417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iBrowser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826" y="1530706"/>
            <a:ext cx="340157" cy="34015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80960" y="1435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apostila/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80136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HTML, CSS e JavaScript puros. Abre em qualquer navegador e é publicada no GitHub Pages como app instalável.</a:t>
            </a:r>
            <a:endParaRPr lang="en-US" sz="1500" dirty="0"/>
          </a:p>
        </p:txBody>
      </p:sp>
      <p:sp>
        <p:nvSpPr>
          <p:cNvPr id="9" name="PiDesktopDuotone círculo"/>
          <p:cNvSpPr/>
          <p:nvPr/>
        </p:nvSpPr>
        <p:spPr>
          <a:xfrm>
            <a:off x="6949440" y="2880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iDesktop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26" y="299374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326440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Next.js com TypeScript. Fases 0 e 1 prontas; recebe depois o que a apostila provar que funciona.</a:t>
            </a:r>
            <a:endParaRPr lang="en-US" sz="1500" dirty="0"/>
          </a:p>
        </p:txBody>
      </p:sp>
      <p:sp>
        <p:nvSpPr>
          <p:cNvPr id="13" name="PiTerminalWindowDuotone círculo"/>
          <p:cNvSpPr/>
          <p:nvPr/>
        </p:nvSpPr>
        <p:spPr>
          <a:xfrm>
            <a:off x="6949440" y="4343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iTerminalWindow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826" y="4456786"/>
            <a:ext cx="340157" cy="34015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80960" y="43616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tutor/ e tests/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7680960" y="472744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Python que roda no seu computador e testes que rodam sozinhos a cada envio ao GitHub.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caminho de um clique em Verificar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548640" y="1600200"/>
            <a:ext cx="1645920" cy="26517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marcador 1"/>
          <p:cNvSpPr/>
          <p:nvPr/>
        </p:nvSpPr>
        <p:spPr>
          <a:xfrm>
            <a:off x="73152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5" name="número 1"/>
          <p:cNvSpPr txBox="1"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iCursorClickDuotone círculo"/>
          <p:cNvSpPr/>
          <p:nvPr/>
        </p:nvSpPr>
        <p:spPr>
          <a:xfrm>
            <a:off x="1088136" y="2331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iCursorClick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2445106"/>
            <a:ext cx="340157" cy="34015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Você escreve o SQL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a caixa de código</a:t>
            </a:r>
            <a:endParaRPr lang="en-US" sz="1200" dirty="0"/>
          </a:p>
        </p:txBody>
      </p:sp>
      <p:sp>
        <p:nvSpPr>
          <p:cNvPr id="10" name="seta"/>
          <p:cNvSpPr/>
          <p:nvPr/>
        </p:nvSpPr>
        <p:spPr>
          <a:xfrm>
            <a:off x="2212848" y="2926080"/>
            <a:ext cx="210312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1" name="passo 2"/>
          <p:cNvSpPr/>
          <p:nvPr/>
        </p:nvSpPr>
        <p:spPr>
          <a:xfrm>
            <a:off x="2441448" y="1600200"/>
            <a:ext cx="1645920" cy="26517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2" name="marcador 2"/>
          <p:cNvSpPr/>
          <p:nvPr/>
        </p:nvSpPr>
        <p:spPr>
          <a:xfrm>
            <a:off x="2624328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3" name="número 2"/>
          <p:cNvSpPr txBox="1"/>
          <p:nvPr/>
        </p:nvSpPr>
        <p:spPr>
          <a:xfrm>
            <a:off x="26243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PiLightningDuotone círculo"/>
          <p:cNvSpPr/>
          <p:nvPr/>
        </p:nvSpPr>
        <p:spPr>
          <a:xfrm>
            <a:off x="2980944" y="2331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iLightning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330" y="2445106"/>
            <a:ext cx="340157" cy="34015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578608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castelo.js lê o texto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578608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e divide em comandos</a:t>
            </a:r>
            <a:endParaRPr lang="en-US" sz="1200" dirty="0"/>
          </a:p>
        </p:txBody>
      </p:sp>
      <p:sp>
        <p:nvSpPr>
          <p:cNvPr id="18" name="seta"/>
          <p:cNvSpPr/>
          <p:nvPr/>
        </p:nvSpPr>
        <p:spPr>
          <a:xfrm>
            <a:off x="4105656" y="2926080"/>
            <a:ext cx="210312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passo 3"/>
          <p:cNvSpPr/>
          <p:nvPr/>
        </p:nvSpPr>
        <p:spPr>
          <a:xfrm>
            <a:off x="4334256" y="1600200"/>
            <a:ext cx="1645920" cy="26517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0" name="marcador 3"/>
          <p:cNvSpPr/>
          <p:nvPr/>
        </p:nvSpPr>
        <p:spPr>
          <a:xfrm>
            <a:off x="4517136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21" name="número 3"/>
          <p:cNvSpPr txBox="1"/>
          <p:nvPr/>
        </p:nvSpPr>
        <p:spPr>
          <a:xfrm>
            <a:off x="451713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PiDatabaseDuotone círculo"/>
          <p:cNvSpPr/>
          <p:nvPr/>
        </p:nvSpPr>
        <p:spPr>
          <a:xfrm>
            <a:off x="4873752" y="2331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PiDatabase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138" y="2445106"/>
            <a:ext cx="340157" cy="340157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471416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PGlite roda no banco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4471416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PostgreSQL de verdade</a:t>
            </a:r>
            <a:endParaRPr lang="en-US" sz="1200" dirty="0"/>
          </a:p>
        </p:txBody>
      </p:sp>
      <p:sp>
        <p:nvSpPr>
          <p:cNvPr id="26" name="seta"/>
          <p:cNvSpPr/>
          <p:nvPr/>
        </p:nvSpPr>
        <p:spPr>
          <a:xfrm>
            <a:off x="5998464" y="2926080"/>
            <a:ext cx="210312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passo 4"/>
          <p:cNvSpPr/>
          <p:nvPr/>
        </p:nvSpPr>
        <p:spPr>
          <a:xfrm>
            <a:off x="6227064" y="1600200"/>
            <a:ext cx="1645920" cy="26517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8" name="marcador 4"/>
          <p:cNvSpPr/>
          <p:nvPr/>
        </p:nvSpPr>
        <p:spPr>
          <a:xfrm>
            <a:off x="6409944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29" name="número 4"/>
          <p:cNvSpPr txBox="1"/>
          <p:nvPr/>
        </p:nvSpPr>
        <p:spPr>
          <a:xfrm>
            <a:off x="640994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PiListChecksDuotone círculo"/>
          <p:cNvSpPr/>
          <p:nvPr/>
        </p:nvSpPr>
        <p:spPr>
          <a:xfrm>
            <a:off x="6766560" y="2331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PiListChecks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946" y="2445106"/>
            <a:ext cx="340157" cy="34015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364224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comparar.js confere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6364224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o resultado, não o texto</a:t>
            </a:r>
            <a:endParaRPr lang="en-US" sz="1200" dirty="0"/>
          </a:p>
        </p:txBody>
      </p:sp>
      <p:sp>
        <p:nvSpPr>
          <p:cNvPr id="34" name="seta"/>
          <p:cNvSpPr/>
          <p:nvPr/>
        </p:nvSpPr>
        <p:spPr>
          <a:xfrm>
            <a:off x="7891272" y="2926080"/>
            <a:ext cx="210312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passo 5"/>
          <p:cNvSpPr/>
          <p:nvPr/>
        </p:nvSpPr>
        <p:spPr>
          <a:xfrm>
            <a:off x="8119872" y="1600200"/>
            <a:ext cx="1645920" cy="26517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36" name="marcador 5"/>
          <p:cNvSpPr/>
          <p:nvPr/>
        </p:nvSpPr>
        <p:spPr>
          <a:xfrm>
            <a:off x="8302752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37" name="número 5"/>
          <p:cNvSpPr txBox="1"/>
          <p:nvPr/>
        </p:nvSpPr>
        <p:spPr>
          <a:xfrm>
            <a:off x="830275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PiChatCircleTextDuotone círculo"/>
          <p:cNvSpPr/>
          <p:nvPr/>
        </p:nvSpPr>
        <p:spPr>
          <a:xfrm>
            <a:off x="8659368" y="2331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PiChatCircleTextDuot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754" y="2445106"/>
            <a:ext cx="340157" cy="34015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257032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Retorno em 3 partes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8257032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certo, erro, próximo passo</a:t>
            </a:r>
            <a:endParaRPr lang="en-US" sz="1200" dirty="0"/>
          </a:p>
        </p:txBody>
      </p:sp>
      <p:sp>
        <p:nvSpPr>
          <p:cNvPr id="42" name="seta"/>
          <p:cNvSpPr/>
          <p:nvPr/>
        </p:nvSpPr>
        <p:spPr>
          <a:xfrm>
            <a:off x="9784080" y="2926080"/>
            <a:ext cx="210312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3" name="passo 6"/>
          <p:cNvSpPr/>
          <p:nvPr/>
        </p:nvSpPr>
        <p:spPr>
          <a:xfrm>
            <a:off x="10012680" y="1600200"/>
            <a:ext cx="1645920" cy="265176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4" name="marcador 6"/>
          <p:cNvSpPr/>
          <p:nvPr/>
        </p:nvSpPr>
        <p:spPr>
          <a:xfrm>
            <a:off x="10195560" y="1783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45" name="número 6"/>
          <p:cNvSpPr txBox="1"/>
          <p:nvPr/>
        </p:nvSpPr>
        <p:spPr>
          <a:xfrm>
            <a:off x="101955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6" name="PiCastleTurretDuotone círculo"/>
          <p:cNvSpPr/>
          <p:nvPr/>
        </p:nvSpPr>
        <p:spPr>
          <a:xfrm>
            <a:off x="10552176" y="23317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7" name="PiCastleTurretDuot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5562" y="2445106"/>
            <a:ext cx="340157" cy="340157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0149840" y="3063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Progresso salvo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10149840" y="3703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e o castelo cresce</a:t>
            </a:r>
            <a:endParaRPr lang="en-US" sz="1200" dirty="0"/>
          </a:p>
        </p:txBody>
      </p:sp>
      <p:sp>
        <p:nvSpPr>
          <p:cNvPr id="50" name="sem servidor círculo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1" name="PiWifiSlashDuot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4901184"/>
            <a:ext cx="301752" cy="301752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1234440" y="482803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Nada sai do seu aparelho.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banco, a correção e o progresso vivem no navegador. Por isso o laboratório funciona sem internet depois da primeira vez.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 seu computador ao celular</a:t>
            </a:r>
            <a:endParaRPr lang="en-US" sz="3200" dirty="0"/>
          </a:p>
        </p:txBody>
      </p:sp>
      <p:sp>
        <p:nvSpPr>
          <p:cNvPr id="3" name="linha do tempo"/>
          <p:cNvSpPr/>
          <p:nvPr/>
        </p:nvSpPr>
        <p:spPr>
          <a:xfrm>
            <a:off x="914400" y="2395728"/>
            <a:ext cx="1033272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4" name="PiWrenchDuotone círculo"/>
          <p:cNvSpPr/>
          <p:nvPr/>
        </p:nvSpPr>
        <p:spPr>
          <a:xfrm>
            <a:off x="987552" y="2057400"/>
            <a:ext cx="676656" cy="67665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Wrench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2192731"/>
            <a:ext cx="405994" cy="40599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Editar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um arquivo da pasta apostila/</a:t>
            </a:r>
            <a:endParaRPr lang="en-US" sz="1400" dirty="0"/>
          </a:p>
        </p:txBody>
      </p:sp>
      <p:sp>
        <p:nvSpPr>
          <p:cNvPr id="8" name="PiCheckCircleDuotone círculo"/>
          <p:cNvSpPr/>
          <p:nvPr/>
        </p:nvSpPr>
        <p:spPr>
          <a:xfrm>
            <a:off x="2880360" y="2057400"/>
            <a:ext cx="676656" cy="67665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iCheckCircle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691" y="219273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87168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Commit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2487168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uma foto das mudanças, com frase</a:t>
            </a:r>
            <a:endParaRPr lang="en-US" sz="1400" dirty="0"/>
          </a:p>
        </p:txBody>
      </p:sp>
      <p:sp>
        <p:nvSpPr>
          <p:cNvPr id="12" name="PiCloudArrowUpDuotone círculo"/>
          <p:cNvSpPr/>
          <p:nvPr/>
        </p:nvSpPr>
        <p:spPr>
          <a:xfrm>
            <a:off x="4773168" y="2057400"/>
            <a:ext cx="676656" cy="67665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iCloudArrowUp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499" y="2192731"/>
            <a:ext cx="405994" cy="40599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79976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Push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379976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envia ao GitHub</a:t>
            </a:r>
            <a:endParaRPr lang="en-US" sz="1400" dirty="0"/>
          </a:p>
        </p:txBody>
      </p:sp>
      <p:sp>
        <p:nvSpPr>
          <p:cNvPr id="16" name="PiShieldCheckDuotone círculo"/>
          <p:cNvSpPr/>
          <p:nvPr/>
        </p:nvSpPr>
        <p:spPr>
          <a:xfrm>
            <a:off x="6665976" y="2057400"/>
            <a:ext cx="676656" cy="67665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iShieldCheck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07" y="2192731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272784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CI testa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6272784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ci.yml roda os 118 testes</a:t>
            </a:r>
            <a:endParaRPr lang="en-US" sz="1400" dirty="0"/>
          </a:p>
        </p:txBody>
      </p:sp>
      <p:sp>
        <p:nvSpPr>
          <p:cNvPr id="20" name="PiBrowserDuotone círculo"/>
          <p:cNvSpPr/>
          <p:nvPr/>
        </p:nvSpPr>
        <p:spPr>
          <a:xfrm>
            <a:off x="8558784" y="2057400"/>
            <a:ext cx="676656" cy="67665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iBrowserDuot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4115" y="2192731"/>
            <a:ext cx="405994" cy="40599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165592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Pages publica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8165592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pages.yml põe o site no ar</a:t>
            </a:r>
            <a:endParaRPr lang="en-US" sz="1400" dirty="0"/>
          </a:p>
        </p:txBody>
      </p:sp>
      <p:sp>
        <p:nvSpPr>
          <p:cNvPr id="24" name="PiDeviceMobileDuotone círculo"/>
          <p:cNvSpPr/>
          <p:nvPr/>
        </p:nvSpPr>
        <p:spPr>
          <a:xfrm>
            <a:off x="10451592" y="2057400"/>
            <a:ext cx="676656" cy="67665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PiDeviceMobileDuot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6923" y="2192731"/>
            <a:ext cx="405994" cy="40599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05840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Celular guarda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10058400" y="33101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sw.js deixa tudo offline</a:t>
            </a:r>
            <a:endParaRPr lang="en-US" sz="1400" dirty="0"/>
          </a:p>
        </p:txBody>
      </p:sp>
      <p:sp>
        <p:nvSpPr>
          <p:cNvPr id="28" name="o que o CI protege"/>
          <p:cNvSpPr/>
          <p:nvPr/>
        </p:nvSpPr>
        <p:spPr>
          <a:xfrm>
            <a:off x="548640" y="448056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9" name="PiBugDuotone círculo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PiBugDuot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46" y="4868266"/>
            <a:ext cx="340157" cy="34015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600200" y="473659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Se um teste falha, o CI avisa antes de você estudar com um erro.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Hoje ele roda todas as soluções do castelo num PostgreSQL de verdade: um erro de digitação numa sala não chega ao site.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Parte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As linguagens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Seis linguagens, cada uma com um papel e um lugar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Seis linguagens e onde cada uma aparece</a:t>
            </a:r>
            <a:endParaRPr lang="en-US" sz="3200" dirty="0"/>
          </a:p>
        </p:txBody>
      </p:sp>
      <p:graphicFrame>
        <p:nvGraphicFramePr>
          <p:cNvPr id="10" name="tabela de linguage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292608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Linguagem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Papel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Onde está no projeto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Uma linha de exemplo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HTML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estrutura da página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castelo/index.html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&lt;button class="botao"&gt;Rodar&lt;/button&gt;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CSS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visual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estilo.css, castelo.css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.botao { min-height: 44px;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JavaScript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comportamento no navegador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licoes/motor.js, castelo.js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botao.addEventListener("click", rodar)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TypeScript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JavaScript com tipos: app e testes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app/, tests/*.test.ts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 Sala = { id: string }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SQL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perguntas e regras do banco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castelo/salas.js, estudo.sql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nome FROM materias;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Python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dados, tutor e análise</a:t>
                      </a:r>
                      <a:endParaRPr lang="en-US" sz="15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gerar_estudo.py, relogio.py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taxa = acertos / total * 100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mesma conta em três linguagens</a:t>
            </a:r>
            <a:endParaRPr lang="en-US" sz="3200" dirty="0"/>
          </a:p>
        </p:txBody>
      </p:sp>
      <p:sp>
        <p:nvSpPr>
          <p:cNvPr id="3" name="bloco de código"/>
          <p:cNvSpPr/>
          <p:nvPr/>
        </p:nvSpPr>
        <p:spPr>
          <a:xfrm>
            <a:off x="548640" y="1417320"/>
            <a:ext cx="292608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rótulo do código"/>
          <p:cNvSpPr txBox="1"/>
          <p:nvPr/>
        </p:nvSpPr>
        <p:spPr>
          <a:xfrm>
            <a:off x="713232" y="15087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SQL: pergunta ao banco</a:t>
            </a:r>
            <a:endParaRPr lang="en-US" sz="1100" dirty="0"/>
          </a:p>
        </p:txBody>
      </p:sp>
      <p:sp>
        <p:nvSpPr>
          <p:cNvPr id="5" name="código"/>
          <p:cNvSpPr txBox="1"/>
          <p:nvPr/>
        </p:nvSpPr>
        <p:spPr>
          <a:xfrm>
            <a:off x="713232" y="1801368"/>
            <a:ext cx="259689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acertou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100.0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respostas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resposta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</p:txBody>
      </p:sp>
      <p:sp>
        <p:nvSpPr>
          <p:cNvPr id="6" name="bloco de código"/>
          <p:cNvSpPr/>
          <p:nvPr/>
        </p:nvSpPr>
        <p:spPr>
          <a:xfrm>
            <a:off x="3703320" y="1417320"/>
            <a:ext cx="388620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rótulo do código"/>
          <p:cNvSpPr txBox="1"/>
          <p:nvPr/>
        </p:nvSpPr>
        <p:spPr>
          <a:xfrm>
            <a:off x="3867912" y="1508760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Python: função que recebe uma lista</a:t>
            </a:r>
            <a:endParaRPr lang="en-US" sz="1100" dirty="0"/>
          </a:p>
        </p:txBody>
      </p:sp>
      <p:sp>
        <p:nvSpPr>
          <p:cNvPr id="8" name="código"/>
          <p:cNvSpPr txBox="1"/>
          <p:nvPr/>
        </p:nvSpPr>
        <p:spPr>
          <a:xfrm>
            <a:off x="3867912" y="1801368"/>
            <a:ext cx="355701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taxa_de_acerto(lista):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(lista) ==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acertos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acertos = acertos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(lista)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taxa = acertos / total *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(taxa,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bloco de código"/>
          <p:cNvSpPr/>
          <p:nvPr/>
        </p:nvSpPr>
        <p:spPr>
          <a:xfrm>
            <a:off x="7818120" y="1417320"/>
            <a:ext cx="3794760" cy="2880360"/>
          </a:xfrm>
          <a:prstGeom prst="roundRect">
            <a:avLst>
              <a:gd name="adj" fmla="val 254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rótulo do código"/>
          <p:cNvSpPr txBox="1"/>
          <p:nvPr/>
        </p:nvSpPr>
        <p:spPr>
          <a:xfrm>
            <a:off x="7982712" y="150876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JavaScript: a mesma função no navegador</a:t>
            </a:r>
            <a:endParaRPr lang="en-US" sz="1100" dirty="0"/>
          </a:p>
        </p:txBody>
      </p:sp>
      <p:sp>
        <p:nvSpPr>
          <p:cNvPr id="11" name="código"/>
          <p:cNvSpPr txBox="1"/>
          <p:nvPr/>
        </p:nvSpPr>
        <p:spPr>
          <a:xfrm>
            <a:off x="7982712" y="1801368"/>
            <a:ext cx="346557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taxaDeAcerto(lista)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(lista.length ===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acertos =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(v) acertos = acertos +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= acertos / lista.length;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Math.round(t *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a mesma lógica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3" name="PiFunctionDuotone círculo"/>
          <p:cNvSpPr/>
          <p:nvPr/>
        </p:nvSpPr>
        <p:spPr>
          <a:xfrm>
            <a:off x="822960" y="48463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PiFunction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4959706"/>
            <a:ext cx="340157" cy="34015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00200" y="4828032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 lógica é uma só: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contar os acertos, dividir pelo total, multiplicar por 100 e arredondar. Muda a escrita, não o raciocínio. É por isso que o castelo ensina a mesma conta em SQL (sala 7), em Python (sala 9) e em pandas (sala 11).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cada linguagem roda</a:t>
            </a:r>
            <a:endParaRPr lang="en-US" sz="3200" dirty="0"/>
          </a:p>
        </p:txBody>
      </p:sp>
      <p:sp>
        <p:nvSpPr>
          <p:cNvPr id="3" name="Seu computador"/>
          <p:cNvSpPr/>
          <p:nvPr/>
        </p:nvSpPr>
        <p:spPr>
          <a:xfrm>
            <a:off x="548640" y="1417320"/>
            <a:ext cx="34747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4" name="PiDesktopDuotone círculo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Desktop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8050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10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Seu computador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Python: gerar_estudo.py, tutor/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git: commit e push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editor de código</a:t>
            </a:r>
            <a:endParaRPr lang="en-US" sz="1500" dirty="0"/>
          </a:p>
        </p:txBody>
      </p:sp>
      <p:sp>
        <p:nvSpPr>
          <p:cNvPr id="8" name="seta"/>
          <p:cNvSpPr/>
          <p:nvPr/>
        </p:nvSpPr>
        <p:spPr>
          <a:xfrm>
            <a:off x="4050792" y="2880360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GitHub"/>
          <p:cNvSpPr/>
          <p:nvPr/>
        </p:nvSpPr>
        <p:spPr>
          <a:xfrm>
            <a:off x="4297680" y="1417320"/>
            <a:ext cx="34747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0" name="PiGitBranchDuotone círculo"/>
          <p:cNvSpPr/>
          <p:nvPr/>
        </p:nvSpPr>
        <p:spPr>
          <a:xfrm>
            <a:off x="457200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iGitBranch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1805026"/>
            <a:ext cx="340157" cy="34015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810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GitHub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TypeScript: os testes do 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PostgreSQL dos testes (PGlite)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Pages: publica o site</a:t>
            </a:r>
            <a:endParaRPr lang="en-US" sz="1500" dirty="0"/>
          </a:p>
        </p:txBody>
      </p:sp>
      <p:sp>
        <p:nvSpPr>
          <p:cNvPr id="14" name="seta"/>
          <p:cNvSpPr/>
          <p:nvPr/>
        </p:nvSpPr>
        <p:spPr>
          <a:xfrm>
            <a:off x="7799832" y="2880360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Seu navegador"/>
          <p:cNvSpPr/>
          <p:nvPr/>
        </p:nvSpPr>
        <p:spPr>
          <a:xfrm>
            <a:off x="8046720" y="1417320"/>
            <a:ext cx="347472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6" name="PiDeviceMobileDuotone círculo"/>
          <p:cNvSpPr/>
          <p:nvPr/>
        </p:nvSpPr>
        <p:spPr>
          <a:xfrm>
            <a:off x="832104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iDeviceMobile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1805026"/>
            <a:ext cx="340157" cy="34015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0" y="1810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Seu navegador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5146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HTML, CSS e JavaScript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SQL no PGlite (WebAssembly)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no Pyodide (WebAssembly)</a:t>
            </a:r>
            <a:endParaRPr lang="en-US" sz="1500" dirty="0"/>
          </a:p>
        </p:txBody>
      </p:sp>
      <p:sp>
        <p:nvSpPr>
          <p:cNvPr id="20" name="WebAssembly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1" name="PiCpuDuotone círculo"/>
          <p:cNvSpPr/>
          <p:nvPr/>
        </p:nvSpPr>
        <p:spPr>
          <a:xfrm>
            <a:off x="822960" y="4892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PiCpu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6" y="5005426"/>
            <a:ext cx="340157" cy="34015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4873752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WebAssembly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é um formato que deixa o navegador rodar programas escritos em outras linguagens quase na velocidade do computador. É assim que o PostgreSQL (escrito em C) e o Python cabem numa página.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Parte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Os repositórios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Onde cada um já está, onde mexer e o que ele acrescenta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Mapa dos repositórios</a:t>
            </a:r>
            <a:endParaRPr lang="en-US" sz="3200" dirty="0"/>
          </a:p>
        </p:txBody>
      </p:sp>
      <p:graphicFrame>
        <p:nvGraphicFramePr>
          <p:cNvPr id="14" name="tabela de repositóri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1945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Repositório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 que faz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Situação no Domínio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Próximo passo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PGlite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 no navegador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Em uso no castelo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SQL que roda nas lições de Banco de Dados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Pyodide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no navegador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Em uso no castelo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 que roda nas lições de programação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ts-fsrs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Revisão espaçada FSRS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Em uso na sala 12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Trocar as caixas fixas da revisão das lições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Animação com molas e layout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No app Next.js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Reações do guia no app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DiceBear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Avatares gerados por código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Próximo passo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Opções de avatar para escolher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Anime.js, lottie-web, Rive, Motion Canvas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Animação rica e vídeo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Não usados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Só com desenho ou narração prontos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js-parsons, Runestone, Online Python Tutor, h5p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Modelos de exercício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Ideias já reescritas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Nada a importar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quizdown-js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Quiz escrito em Markdown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Descartado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Arquivado pelo autor em 19/11/2025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PGlite: um PostgreSQL inteiro no navegador</a:t>
            </a:r>
            <a:endParaRPr lang="en-US" sz="3200" dirty="0"/>
          </a:p>
        </p:txBody>
      </p:sp>
      <p:sp>
        <p:nvSpPr>
          <p:cNvPr id="3" name="PiDatabaseDuotone círculo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iDatabase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481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 que é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828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banco do curso (PostgreSQL) compilado para WebAssembly, com cerca de 3 MB. Licença Apache 2.0 ou PostgreSQL.</a:t>
            </a:r>
            <a:endParaRPr lang="en-US" sz="1500" dirty="0"/>
          </a:p>
        </p:txBody>
      </p:sp>
      <p:sp>
        <p:nvSpPr>
          <p:cNvPr id="7" name="PiBookOpenTextDuotone círculo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PiBookOpenText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7157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Conceitos para entender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3063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tabela, chave primária e estrangeira, consulta; IndexedDB, onde o navegador guarda o banco.</a:t>
            </a:r>
            <a:endParaRPr lang="en-US" sz="1500" dirty="0"/>
          </a:p>
        </p:txBody>
      </p:sp>
      <p:sp>
        <p:nvSpPr>
          <p:cNvPr id="11" name="PiCastleTurretDuotone círculo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PiCastleTurret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9044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Onde já está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4251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castelo/castelo.js, função banco(): abre o banco salvo no aparelho.</a:t>
            </a:r>
            <a:endParaRPr lang="en-US" sz="1500" dirty="0"/>
          </a:p>
        </p:txBody>
      </p:sp>
      <p:sp>
        <p:nvSpPr>
          <p:cNvPr id="15" name="PiWrenchDuotone círculo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iWrench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377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9103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Onde mexer agora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52578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motor das lições já chama window.Laboratorio para exercícios de código; falta o arquivo que usa o PGlite e o comparar.js nas lições de Banco de Dados.</a:t>
            </a:r>
            <a:endParaRPr lang="en-US" sz="1500" dirty="0"/>
          </a:p>
        </p:txBody>
      </p:sp>
      <p:sp>
        <p:nvSpPr>
          <p:cNvPr id="19" name="bloco de código"/>
          <p:cNvSpPr/>
          <p:nvPr/>
        </p:nvSpPr>
        <p:spPr>
          <a:xfrm>
            <a:off x="6355080" y="1417320"/>
            <a:ext cx="525780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rótulo do código"/>
          <p:cNvSpPr txBox="1"/>
          <p:nvPr/>
        </p:nvSpPr>
        <p:spPr>
          <a:xfrm>
            <a:off x="6519672" y="1508760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Como o código usa</a:t>
            </a:r>
            <a:endParaRPr lang="en-US" sz="1100" dirty="0"/>
          </a:p>
        </p:txBody>
      </p:sp>
      <p:sp>
        <p:nvSpPr>
          <p:cNvPr id="21" name="código"/>
          <p:cNvSpPr txBox="1"/>
          <p:nvPr/>
        </p:nvSpPr>
        <p:spPr>
          <a:xfrm>
            <a:off x="6519672" y="1801368"/>
            <a:ext cx="4928616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castelo.js: abrir o banco salvo no aparelho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PGlite } =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(PGLITE);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 =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PGlite.create(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"idb://dominio-castelo"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rodar uma consulta e receber as linhas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=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db.query(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nome FROM materias ORDER BY nome"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[], { rowMode: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"array"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r.rows;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[["Banco de Dados"], ...]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Pyodide: Python de verdade, sem instalar nada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486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marcador 1"/>
          <p:cNvSpPr/>
          <p:nvPr/>
        </p:nvSpPr>
        <p:spPr>
          <a:xfrm>
            <a:off x="777240" y="1600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5" name="número 1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27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Baixa o Python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uma vez; depois o celular guarda</a:t>
            </a:r>
            <a:endParaRPr lang="en-US" sz="1400" dirty="0"/>
          </a:p>
        </p:txBody>
      </p:sp>
      <p:sp>
        <p:nvSpPr>
          <p:cNvPr id="8" name="seta"/>
          <p:cNvSpPr/>
          <p:nvPr/>
        </p:nvSpPr>
        <p:spPr>
          <a:xfrm>
            <a:off x="3127248" y="2121408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etapa 2"/>
          <p:cNvSpPr/>
          <p:nvPr/>
        </p:nvSpPr>
        <p:spPr>
          <a:xfrm>
            <a:off x="3364992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0" name="marcador 2"/>
          <p:cNvSpPr/>
          <p:nvPr/>
        </p:nvSpPr>
        <p:spPr>
          <a:xfrm>
            <a:off x="3593592" y="1600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1" name="número 2"/>
          <p:cNvSpPr txBox="1"/>
          <p:nvPr/>
        </p:nvSpPr>
        <p:spPr>
          <a:xfrm>
            <a:off x="359359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96512" y="1627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Carrega o pandas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só quando a sala pede</a:t>
            </a:r>
            <a:endParaRPr lang="en-US" sz="1400" dirty="0"/>
          </a:p>
        </p:txBody>
      </p:sp>
      <p:sp>
        <p:nvSpPr>
          <p:cNvPr id="14" name="seta"/>
          <p:cNvSpPr/>
          <p:nvPr/>
        </p:nvSpPr>
        <p:spPr>
          <a:xfrm>
            <a:off x="5943600" y="2121408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etapa 3"/>
          <p:cNvSpPr/>
          <p:nvPr/>
        </p:nvSpPr>
        <p:spPr>
          <a:xfrm>
            <a:off x="6181344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6" name="marcador 3"/>
          <p:cNvSpPr/>
          <p:nvPr/>
        </p:nvSpPr>
        <p:spPr>
          <a:xfrm>
            <a:off x="6409944" y="1600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17" name="número 3"/>
          <p:cNvSpPr txBox="1"/>
          <p:nvPr/>
        </p:nvSpPr>
        <p:spPr>
          <a:xfrm>
            <a:off x="640994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12864" y="1627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Recebe as linhas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o banco vira lista de dicionários</a:t>
            </a:r>
            <a:endParaRPr lang="en-US" sz="1400" dirty="0"/>
          </a:p>
        </p:txBody>
      </p:sp>
      <p:sp>
        <p:nvSpPr>
          <p:cNvPr id="20" name="seta"/>
          <p:cNvSpPr/>
          <p:nvPr/>
        </p:nvSpPr>
        <p:spPr>
          <a:xfrm>
            <a:off x="8759952" y="2121408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etapa 4"/>
          <p:cNvSpPr/>
          <p:nvPr/>
        </p:nvSpPr>
        <p:spPr>
          <a:xfrm>
            <a:off x="8997696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2" name="marcador 4"/>
          <p:cNvSpPr/>
          <p:nvPr/>
        </p:nvSpPr>
        <p:spPr>
          <a:xfrm>
            <a:off x="9226296" y="16002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</p:sp>
      <p:sp>
        <p:nvSpPr>
          <p:cNvPr id="23" name="número 4"/>
          <p:cNvSpPr txBox="1"/>
          <p:nvPr/>
        </p:nvSpPr>
        <p:spPr>
          <a:xfrm>
            <a:off x="9226296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729216" y="1627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Roda o seu código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e depois os testes (assert)</a:t>
            </a:r>
            <a:endParaRPr lang="en-US" sz="1400" dirty="0"/>
          </a:p>
        </p:txBody>
      </p:sp>
      <p:sp>
        <p:nvSpPr>
          <p:cNvPr id="26" name="bloco de código"/>
          <p:cNvSpPr/>
          <p:nvPr/>
        </p:nvSpPr>
        <p:spPr>
          <a:xfrm>
            <a:off x="548640" y="3154680"/>
            <a:ext cx="630936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rótulo do código"/>
          <p:cNvSpPr txBox="1"/>
          <p:nvPr/>
        </p:nvSpPr>
        <p:spPr>
          <a:xfrm>
            <a:off x="713232" y="3246120"/>
            <a:ext cx="5980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castelo.js, função prepararPython</a:t>
            </a:r>
            <a:endParaRPr lang="en-US" sz="1100" dirty="0"/>
          </a:p>
        </p:txBody>
      </p:sp>
      <p:sp>
        <p:nvSpPr>
          <p:cNvPr id="28" name="código"/>
          <p:cNvSpPr txBox="1"/>
          <p:nvPr/>
        </p:nvSpPr>
        <p:spPr>
          <a:xfrm>
            <a:off x="713232" y="3538728"/>
            <a:ext cx="598017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 =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loadPyodide({ indexURL: PYODIDE });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py.loadPackage(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"pandas"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py.globals.set(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"_json"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JSON.stringify(linhas));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py.runPython(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"respostas = json.loads(_json)"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py.runPython(codigoDoAluno);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py.runPython(testes);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asserts da sala</a:t>
            </a:r>
            <a:endParaRPr lang="en-US" sz="1300" dirty="0"/>
          </a:p>
        </p:txBody>
      </p:sp>
      <p:sp>
        <p:nvSpPr>
          <p:cNvPr id="29" name="PiCastleTurretDuotone círculo"/>
          <p:cNvSpPr/>
          <p:nvPr/>
        </p:nvSpPr>
        <p:spPr>
          <a:xfrm>
            <a:off x="71780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PiCastleTurret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324612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818120" y="3218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Onde já está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35661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salas 9, 10 e 11: funções, o relógio da execução e o pandas com gráfico.</a:t>
            </a:r>
            <a:endParaRPr lang="en-US" sz="1500" dirty="0"/>
          </a:p>
        </p:txBody>
      </p:sp>
      <p:sp>
        <p:nvSpPr>
          <p:cNvPr id="33" name="PiWrenchDuotone círculo"/>
          <p:cNvSpPr/>
          <p:nvPr/>
        </p:nvSpPr>
        <p:spPr>
          <a:xfrm>
            <a:off x="7178040" y="4343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PiWrench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43484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7818120" y="44074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Onde mexer agora</a:t>
            </a:r>
            <a:endParaRPr lang="en-US" sz="1600" dirty="0"/>
          </a:p>
        </p:txBody>
      </p:sp>
      <p:sp>
        <p:nvSpPr>
          <p:cNvPr id="36" name="Text 32"/>
          <p:cNvSpPr txBox="1"/>
          <p:nvPr/>
        </p:nvSpPr>
        <p:spPr>
          <a:xfrm>
            <a:off x="7818120" y="475488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 lições de Python (PY.01 em diante) com caixa que roda o código e testes, usando o mesmo prepararPython.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ts-fsrs: revisar no dia em que você ia esquecer</a:t>
            </a:r>
            <a:endParaRPr lang="en-US" sz="3200" dirty="0"/>
          </a:p>
        </p:txBody>
      </p:sp>
      <p:graphicFrame>
        <p:nvGraphicFramePr>
          <p:cNvPr id="17" name="tabela de interval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31520"/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Intervalo até a revisão (dias)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1ª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2ª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3ª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4ª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5ª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Caixas fixas, hoje nas lições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FSRS, respondendo Difícil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FSRS, respondendo Bom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196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586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20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Simulação com ts-fsrs 5.4.2, sem etapas curtas e sem sorteio.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77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chemeClr val="accent1"/>
                </a:solidFill>
              </a:rPr>
              <a:t>586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2606040" y="40690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dias até a 5ª revisão de quem responde Bom, contra 30 nas caixas fixas: menos tempo no que você já sabe, mais no que você esquece.</a:t>
            </a:r>
            <a:endParaRPr lang="en-US" sz="1500" dirty="0"/>
          </a:p>
        </p:txBody>
      </p:sp>
      <p:sp>
        <p:nvSpPr>
          <p:cNvPr id="7" name="bloco de código"/>
          <p:cNvSpPr/>
          <p:nvPr/>
        </p:nvSpPr>
        <p:spPr>
          <a:xfrm>
            <a:off x="7635240" y="1417320"/>
            <a:ext cx="397764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rótulo do código"/>
          <p:cNvSpPr txBox="1"/>
          <p:nvPr/>
        </p:nvSpPr>
        <p:spPr>
          <a:xfrm>
            <a:off x="7799832" y="1508760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castelo.js, sala 12</a:t>
            </a:r>
            <a:endParaRPr lang="en-US" sz="1100" dirty="0"/>
          </a:p>
        </p:txBody>
      </p:sp>
      <p:sp>
        <p:nvSpPr>
          <p:cNvPr id="9" name="código"/>
          <p:cNvSpPr txBox="1"/>
          <p:nvPr/>
        </p:nvSpPr>
        <p:spPr>
          <a:xfrm>
            <a:off x="7799832" y="1801368"/>
            <a:ext cx="364845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 = FSRS.fsrs(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FSRS.generatorParameters({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enable_short_term: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= FSRS.createEmptyCard(agora);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= f.next(c, agora,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FSRS.Rating.Good).card;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r.due;      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daqui a 3 dias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r.stability;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2,3 dias</a:t>
            </a:r>
            <a:endParaRPr lang="en-US" sz="1200" dirty="0"/>
          </a:p>
        </p:txBody>
      </p:sp>
      <p:sp>
        <p:nvSpPr>
          <p:cNvPr id="10" name="PiWrenchDuotone círculo"/>
          <p:cNvSpPr/>
          <p:nvPr/>
        </p:nvSpPr>
        <p:spPr>
          <a:xfrm>
            <a:off x="7635240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iWrench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4526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75320" y="44988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Onde mexer agora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48463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em licoes/motor.js, trocar INTERVALOS = [1, 3, 7, 14, 30] pela conta do FSRS.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Animação: o que cada biblioteca acrescenta</a:t>
            </a:r>
            <a:endParaRPr lang="en-US" sz="3200" dirty="0"/>
          </a:p>
        </p:txBody>
      </p:sp>
      <p:sp>
        <p:nvSpPr>
          <p:cNvPr id="3" name="Motion"/>
          <p:cNvSpPr/>
          <p:nvPr/>
        </p:nvSpPr>
        <p:spPr>
          <a:xfrm>
            <a:off x="548640" y="1417320"/>
            <a:ext cx="2011680" cy="30632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PiFilmStripDuotone círculo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FilmStrip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Motion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Molas, animação de layout e de rolagem.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Já é a do app Next.js; usar nas reações do guia lá.</a:t>
            </a:r>
            <a:endParaRPr lang="en-US" sz="1200" dirty="0"/>
          </a:p>
        </p:txBody>
      </p:sp>
      <p:sp>
        <p:nvSpPr>
          <p:cNvPr id="9" name="Anime.js"/>
          <p:cNvSpPr/>
          <p:nvPr/>
        </p:nvSpPr>
        <p:spPr>
          <a:xfrm>
            <a:off x="2779776" y="1417320"/>
            <a:ext cx="2011680" cy="30632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0" name="PiFilmStripDuotone círculo"/>
          <p:cNvSpPr/>
          <p:nvPr/>
        </p:nvSpPr>
        <p:spPr>
          <a:xfrm>
            <a:off x="3008376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iFilmStrip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08376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Anime.js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08376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Anima CSS, SVG e números, em sequência.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008376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Desenhos SVG das lições, se a animação nativa não bastar.</a:t>
            </a:r>
            <a:endParaRPr lang="en-US" sz="1200" dirty="0"/>
          </a:p>
        </p:txBody>
      </p:sp>
      <p:sp>
        <p:nvSpPr>
          <p:cNvPr id="15" name="lottie-web"/>
          <p:cNvSpPr/>
          <p:nvPr/>
        </p:nvSpPr>
        <p:spPr>
          <a:xfrm>
            <a:off x="5010912" y="1417320"/>
            <a:ext cx="2011680" cy="30632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6" name="PiFilmStripDuotone círculo"/>
          <p:cNvSpPr/>
          <p:nvPr/>
        </p:nvSpPr>
        <p:spPr>
          <a:xfrm>
            <a:off x="5239512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iFilmStrip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7373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39512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lottie-web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239512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Toca animações feitas no After Effects.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239512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Só se um designer desenhar as reações do guia.</a:t>
            </a:r>
            <a:endParaRPr lang="en-US" sz="1200" dirty="0"/>
          </a:p>
        </p:txBody>
      </p:sp>
      <p:sp>
        <p:nvSpPr>
          <p:cNvPr id="21" name="Rive"/>
          <p:cNvSpPr/>
          <p:nvPr/>
        </p:nvSpPr>
        <p:spPr>
          <a:xfrm>
            <a:off x="7242048" y="1417320"/>
            <a:ext cx="2011680" cy="30632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2" name="PiFilmStripDuotone círculo"/>
          <p:cNvSpPr/>
          <p:nvPr/>
        </p:nvSpPr>
        <p:spPr>
          <a:xfrm>
            <a:off x="747064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PiFilmStrip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7373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70648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Rive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470648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Animação que reage a estados e toques.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470648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Guia que reage ao acerto; exige aprender o editor.</a:t>
            </a:r>
            <a:endParaRPr lang="en-US" sz="1200" dirty="0"/>
          </a:p>
        </p:txBody>
      </p:sp>
      <p:sp>
        <p:nvSpPr>
          <p:cNvPr id="27" name="Motion Canvas"/>
          <p:cNvSpPr/>
          <p:nvPr/>
        </p:nvSpPr>
        <p:spPr>
          <a:xfrm>
            <a:off x="9473184" y="1417320"/>
            <a:ext cx="2011680" cy="306324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8" name="PiFilmStripDuotone círculo"/>
          <p:cNvSpPr/>
          <p:nvPr/>
        </p:nvSpPr>
        <p:spPr>
          <a:xfrm>
            <a:off x="9701784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PiFilmStripDuot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173736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01784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Motion Canvas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701784" y="2651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Vídeos explicativos programados, com voz.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9701784" y="3520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Um vídeo curto por conceito, no futuro.</a:t>
            </a:r>
            <a:endParaRPr lang="en-US" sz="1200" dirty="0"/>
          </a:p>
        </p:txBody>
      </p:sp>
      <p:sp>
        <p:nvSpPr>
          <p:cNvPr id="33" name="regra da animação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34" name="PiTargetDuotone círculo"/>
          <p:cNvSpPr/>
          <p:nvPr/>
        </p:nvSpPr>
        <p:spPr>
          <a:xfrm>
            <a:off x="822960" y="500176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PiTargetDuot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6" y="5115154"/>
            <a:ext cx="340157" cy="34015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600200" y="496519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Hoje a apostila anima sem biblioteca: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castelo usa a animação nativa do navegador (element.animate) e desliga tudo com “reduzir movimento”. Só se move o que muda o entendimento.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Referências que viraram código nosso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Ideia de origem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1371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Onde virou código no Domínio</a:t>
            </a:r>
            <a:endParaRPr lang="en-US" sz="1300" dirty="0"/>
          </a:p>
        </p:txBody>
      </p:sp>
      <p:sp>
        <p:nvSpPr>
          <p:cNvPr id="5" name="js-parsons"/>
          <p:cNvSpPr/>
          <p:nvPr/>
        </p:nvSpPr>
        <p:spPr>
          <a:xfrm>
            <a:off x="548640" y="1737360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js-parsons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montar o programa com linha falsa e recuo</a:t>
            </a:r>
            <a:endParaRPr lang="en-US" sz="1500" dirty="0"/>
          </a:p>
        </p:txBody>
      </p:sp>
      <p:sp>
        <p:nvSpPr>
          <p:cNvPr id="7" name="seta"/>
          <p:cNvSpPr/>
          <p:nvPr/>
        </p:nvSpPr>
        <p:spPr>
          <a:xfrm>
            <a:off x="5623560" y="2185416"/>
            <a:ext cx="9144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no Domínio"/>
          <p:cNvSpPr/>
          <p:nvPr/>
        </p:nvSpPr>
        <p:spPr>
          <a:xfrm>
            <a:off x="6675120" y="1737360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03720" y="18562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motor.js: data-ordenar, data-falsa, data-recuo</a:t>
            </a:r>
            <a:endParaRPr lang="en-US" sz="1500" dirty="0"/>
          </a:p>
        </p:txBody>
      </p:sp>
      <p:sp>
        <p:nvSpPr>
          <p:cNvPr id="10" name="Runestone"/>
          <p:cNvSpPr/>
          <p:nvPr/>
        </p:nvSpPr>
        <p:spPr>
          <a:xfrm>
            <a:off x="548640" y="2816352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352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Runestone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livro interativo com código que roda</a:t>
            </a:r>
            <a:endParaRPr lang="en-US" sz="1500" dirty="0"/>
          </a:p>
        </p:txBody>
      </p:sp>
      <p:sp>
        <p:nvSpPr>
          <p:cNvPr id="12" name="seta"/>
          <p:cNvSpPr/>
          <p:nvPr/>
        </p:nvSpPr>
        <p:spPr>
          <a:xfrm>
            <a:off x="5623560" y="3264408"/>
            <a:ext cx="9144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no Domínio"/>
          <p:cNvSpPr/>
          <p:nvPr/>
        </p:nvSpPr>
        <p:spPr>
          <a:xfrm>
            <a:off x="6675120" y="2816352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29352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castelo: editor, Rodar e Verificar em cada tarefa</a:t>
            </a:r>
            <a:endParaRPr lang="en-US" sz="1500" dirty="0"/>
          </a:p>
        </p:txBody>
      </p:sp>
      <p:sp>
        <p:nvSpPr>
          <p:cNvPr id="15" name="Online Python Tutor"/>
          <p:cNvSpPr/>
          <p:nvPr/>
        </p:nvSpPr>
        <p:spPr>
          <a:xfrm>
            <a:off x="548640" y="3895344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142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Online Python Tutor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ver a execução linha a linha</a:t>
            </a:r>
            <a:endParaRPr lang="en-US" sz="1500" dirty="0"/>
          </a:p>
        </p:txBody>
      </p:sp>
      <p:sp>
        <p:nvSpPr>
          <p:cNvPr id="17" name="seta"/>
          <p:cNvSpPr/>
          <p:nvPr/>
        </p:nvSpPr>
        <p:spPr>
          <a:xfrm>
            <a:off x="5623560" y="4343400"/>
            <a:ext cx="9144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no Domínio"/>
          <p:cNvSpPr/>
          <p:nvPr/>
        </p:nvSpPr>
        <p:spPr>
          <a:xfrm>
            <a:off x="6675120" y="3895344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40142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castelo/relogio.py e Clip.execucao (sala 10)</a:t>
            </a:r>
            <a:endParaRPr lang="en-US" sz="1500" dirty="0"/>
          </a:p>
        </p:txBody>
      </p:sp>
      <p:sp>
        <p:nvSpPr>
          <p:cNvPr id="20" name="h5p-standalone"/>
          <p:cNvSpPr/>
          <p:nvPr/>
        </p:nvSpPr>
        <p:spPr>
          <a:xfrm>
            <a:off x="548640" y="4974336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0932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h5p-standalone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4"/>
                </a:solidFill>
              </a:rPr>
              <a:t>dezenas de tipos de atividade</a:t>
            </a:r>
            <a:endParaRPr lang="en-US" sz="1500" dirty="0"/>
          </a:p>
        </p:txBody>
      </p:sp>
      <p:sp>
        <p:nvSpPr>
          <p:cNvPr id="22" name="seta"/>
          <p:cNvSpPr/>
          <p:nvPr/>
        </p:nvSpPr>
        <p:spPr>
          <a:xfrm>
            <a:off x="5623560" y="5422392"/>
            <a:ext cx="9144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no Domínio"/>
          <p:cNvSpPr/>
          <p:nvPr/>
        </p:nvSpPr>
        <p:spPr>
          <a:xfrm>
            <a:off x="6675120" y="4974336"/>
            <a:ext cx="493776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50932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os formatos que você marcou no documento didático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Avatares: DiceBear e as licenças</a:t>
            </a:r>
            <a:endParaRPr lang="en-US" sz="3200" dirty="0"/>
          </a:p>
        </p:txBody>
      </p:sp>
      <p:sp>
        <p:nvSpPr>
          <p:cNvPr id="3" name="estilos CC0"/>
          <p:cNvSpPr/>
          <p:nvPr/>
        </p:nvSpPr>
        <p:spPr>
          <a:xfrm>
            <a:off x="548640" y="141732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13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estilos CC0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uso livre, sem crédito</a:t>
            </a:r>
            <a:endParaRPr lang="en-US" sz="1300" dirty="0"/>
          </a:p>
        </p:txBody>
      </p:sp>
      <p:sp>
        <p:nvSpPr>
          <p:cNvPr id="7" name="estilos CC BY 4.0"/>
          <p:cNvSpPr/>
          <p:nvPr/>
        </p:nvSpPr>
        <p:spPr>
          <a:xfrm>
            <a:off x="3364992" y="141732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93592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13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estilos CC BY 4.0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uso livre com crédito ao autor</a:t>
            </a:r>
            <a:endParaRPr lang="en-US" sz="1300" dirty="0"/>
          </a:p>
        </p:txBody>
      </p:sp>
      <p:sp>
        <p:nvSpPr>
          <p:cNvPr id="11" name="estilos de Pablo Stanley"/>
          <p:cNvSpPr/>
          <p:nvPr/>
        </p:nvSpPr>
        <p:spPr>
          <a:xfrm>
            <a:off x="6181344" y="141732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9944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estilos de Pablo Stanley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livres para uso pessoal e comercial</a:t>
            </a:r>
            <a:endParaRPr lang="en-US" sz="1300" dirty="0"/>
          </a:p>
        </p:txBody>
      </p:sp>
      <p:sp>
        <p:nvSpPr>
          <p:cNvPr id="15" name="estilo MIT"/>
          <p:cNvSpPr/>
          <p:nvPr/>
        </p:nvSpPr>
        <p:spPr>
          <a:xfrm>
            <a:off x="8997696" y="1417320"/>
            <a:ext cx="256032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26296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estilo MIT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ícones, com aviso de licença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375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Os 31 estilos da versão 9.4.2, a mais recente, conferidos no próprio pacote.</a:t>
            </a:r>
            <a:endParaRPr lang="en-US" sz="1200" dirty="0"/>
          </a:p>
        </p:txBody>
      </p:sp>
      <p:sp>
        <p:nvSpPr>
          <p:cNvPr id="20" name="bloco de código"/>
          <p:cNvSpPr/>
          <p:nvPr/>
        </p:nvSpPr>
        <p:spPr>
          <a:xfrm>
            <a:off x="548640" y="3794760"/>
            <a:ext cx="57607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rótulo do código"/>
          <p:cNvSpPr txBox="1"/>
          <p:nvPr/>
        </p:nvSpPr>
        <p:spPr>
          <a:xfrm>
            <a:off x="713232" y="388620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Um avatar a partir de uma palavra</a:t>
            </a:r>
            <a:endParaRPr lang="en-US" sz="1100" dirty="0"/>
          </a:p>
        </p:txBody>
      </p:sp>
      <p:sp>
        <p:nvSpPr>
          <p:cNvPr id="22" name="código"/>
          <p:cNvSpPr txBox="1"/>
          <p:nvPr/>
        </p:nvSpPr>
        <p:spPr>
          <a:xfrm>
            <a:off x="713232" y="4178808"/>
            <a:ext cx="54315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createAvatar }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"@dicebear/core"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notionists }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"@dicebear/collection"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svg = createAvatar(notionists,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seed: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"Kaio"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}).toString();</a:t>
            </a:r>
            <a:endParaRPr lang="en-US" sz="1300" dirty="0"/>
          </a:p>
        </p:txBody>
      </p:sp>
      <p:sp>
        <p:nvSpPr>
          <p:cNvPr id="23" name="PiShieldCheckDuotone círculo"/>
          <p:cNvSpPr/>
          <p:nvPr/>
        </p:nvSpPr>
        <p:spPr>
          <a:xfrm>
            <a:off x="662940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PiShieldCheck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93192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7269480" y="390448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 regra que muda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425196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CLAUDE.md só permite desenhos próprios. Usar DiceBear pede trocar a regra por “só estilos CC0, ou CC BY com crédito na galeria”. As opções vêm para você escolher antes.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Parte 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 castelo por dentro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Os 10 exemplos de ferramentas viraram as 12 salas do laboratório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Doze salas, um conceito e uma ferramenta em cada</a:t>
            </a:r>
            <a:endParaRPr lang="en-US" sz="3200" dirty="0"/>
          </a:p>
        </p:txBody>
      </p:sp>
      <p:sp>
        <p:nvSpPr>
          <p:cNvPr id="3" name="Pedra fundamental"/>
          <p:cNvSpPr/>
          <p:nvPr/>
        </p:nvSpPr>
        <p:spPr>
          <a:xfrm>
            <a:off x="548640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marcador 1"/>
          <p:cNvSpPr/>
          <p:nvPr/>
        </p:nvSpPr>
        <p:spPr>
          <a:xfrm>
            <a:off x="731520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5" name="número 1"/>
          <p:cNvSpPr txBox="1"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5727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Pedra fundamental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CREATE TABLE, chave primária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9" name="Primeiros moradores"/>
          <p:cNvSpPr/>
          <p:nvPr/>
        </p:nvSpPr>
        <p:spPr>
          <a:xfrm>
            <a:off x="3364992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marcador 2"/>
          <p:cNvSpPr/>
          <p:nvPr/>
        </p:nvSpPr>
        <p:spPr>
          <a:xfrm>
            <a:off x="3547872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1" name="número 2"/>
          <p:cNvSpPr txBox="1"/>
          <p:nvPr/>
        </p:nvSpPr>
        <p:spPr>
          <a:xfrm>
            <a:off x="3547872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5727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Primeiros moradores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INSERT, SELECT, ORDER BY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15" name="Muralha das chaves"/>
          <p:cNvSpPr/>
          <p:nvPr/>
        </p:nvSpPr>
        <p:spPr>
          <a:xfrm>
            <a:off x="6181344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marcador 3"/>
          <p:cNvSpPr/>
          <p:nvPr/>
        </p:nvSpPr>
        <p:spPr>
          <a:xfrm>
            <a:off x="6364224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7" name="número 3"/>
          <p:cNvSpPr txBox="1"/>
          <p:nvPr/>
        </p:nvSpPr>
        <p:spPr>
          <a:xfrm>
            <a:off x="6364224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15727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Muralha das chaves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chave estrangeira, CHECK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21" name="Portão das aspas"/>
          <p:cNvSpPr/>
          <p:nvPr/>
        </p:nvSpPr>
        <p:spPr>
          <a:xfrm>
            <a:off x="8997696" y="1371600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2" name="marcador 4"/>
          <p:cNvSpPr/>
          <p:nvPr/>
        </p:nvSpPr>
        <p:spPr>
          <a:xfrm>
            <a:off x="9180576" y="155448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23" name="número 4"/>
          <p:cNvSpPr txBox="1"/>
          <p:nvPr/>
        </p:nvSpPr>
        <p:spPr>
          <a:xfrm>
            <a:off x="9180576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56064" y="15727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Portão das aspas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aspas, apóstrofo, NULL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27" name="Celeiro da carga"/>
          <p:cNvSpPr/>
          <p:nvPr/>
        </p:nvSpPr>
        <p:spPr>
          <a:xfrm>
            <a:off x="548640" y="2907792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8" name="marcador 5"/>
          <p:cNvSpPr/>
          <p:nvPr/>
        </p:nvSpPr>
        <p:spPr>
          <a:xfrm>
            <a:off x="731520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29" name="número 5"/>
          <p:cNvSpPr txBox="1"/>
          <p:nvPr/>
        </p:nvSpPr>
        <p:spPr>
          <a:xfrm>
            <a:off x="7315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Celeiro da carga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carga em massa, IS NULL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33" name="Torre de vigia"/>
          <p:cNvSpPr/>
          <p:nvPr/>
        </p:nvSpPr>
        <p:spPr>
          <a:xfrm>
            <a:off x="3364992" y="2907792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4" name="marcador 6"/>
          <p:cNvSpPr/>
          <p:nvPr/>
        </p:nvSpPr>
        <p:spPr>
          <a:xfrm>
            <a:off x="3547872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35" name="número 6"/>
          <p:cNvSpPr txBox="1"/>
          <p:nvPr/>
        </p:nvSpPr>
        <p:spPr>
          <a:xfrm>
            <a:off x="354787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023360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Torre de vigia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547872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WHERE, ORDER BY, LIMIT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547872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39" name="Salão dos grupos"/>
          <p:cNvSpPr/>
          <p:nvPr/>
        </p:nvSpPr>
        <p:spPr>
          <a:xfrm>
            <a:off x="6181344" y="2907792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0" name="marcador 7"/>
          <p:cNvSpPr/>
          <p:nvPr/>
        </p:nvSpPr>
        <p:spPr>
          <a:xfrm>
            <a:off x="6364224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41" name="número 7"/>
          <p:cNvSpPr txBox="1"/>
          <p:nvPr/>
        </p:nvSpPr>
        <p:spPr>
          <a:xfrm>
            <a:off x="6364224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839712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Salão dos grupos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364224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GROUP BY, HAVING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364224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45" name="Ponte das junções"/>
          <p:cNvSpPr/>
          <p:nvPr/>
        </p:nvSpPr>
        <p:spPr>
          <a:xfrm>
            <a:off x="8997696" y="2907792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6" name="marcador 8"/>
          <p:cNvSpPr/>
          <p:nvPr/>
        </p:nvSpPr>
        <p:spPr>
          <a:xfrm>
            <a:off x="9180576" y="309067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47" name="número 8"/>
          <p:cNvSpPr txBox="1"/>
          <p:nvPr/>
        </p:nvSpPr>
        <p:spPr>
          <a:xfrm>
            <a:off x="9180576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656064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Ponte das junções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180576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JOIN, LEFT JOIN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80576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PGlite</a:t>
            </a:r>
            <a:endParaRPr lang="en-US" sz="1200" dirty="0"/>
          </a:p>
        </p:txBody>
      </p:sp>
      <p:sp>
        <p:nvSpPr>
          <p:cNvPr id="51" name="Oficina Python"/>
          <p:cNvSpPr/>
          <p:nvPr/>
        </p:nvSpPr>
        <p:spPr>
          <a:xfrm>
            <a:off x="548640" y="4443984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2" name="marcador 9"/>
          <p:cNvSpPr/>
          <p:nvPr/>
        </p:nvSpPr>
        <p:spPr>
          <a:xfrm>
            <a:off x="731520" y="4626864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53" name="número 9"/>
          <p:cNvSpPr txBox="1"/>
          <p:nvPr/>
        </p:nvSpPr>
        <p:spPr>
          <a:xfrm>
            <a:off x="73152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207008" y="4645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Oficina Python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731520" y="5102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lista, dicionário, função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731520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Pyodide</a:t>
            </a:r>
            <a:endParaRPr lang="en-US" sz="1200" dirty="0"/>
          </a:p>
        </p:txBody>
      </p:sp>
      <p:sp>
        <p:nvSpPr>
          <p:cNvPr id="57" name="Relógio da execução"/>
          <p:cNvSpPr/>
          <p:nvPr/>
        </p:nvSpPr>
        <p:spPr>
          <a:xfrm>
            <a:off x="3364992" y="4443984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8" name="marcador 10"/>
          <p:cNvSpPr/>
          <p:nvPr/>
        </p:nvSpPr>
        <p:spPr>
          <a:xfrm>
            <a:off x="3547872" y="4626864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59" name="número 10"/>
          <p:cNvSpPr txBox="1"/>
          <p:nvPr/>
        </p:nvSpPr>
        <p:spPr>
          <a:xfrm>
            <a:off x="3547872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4023360" y="4645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Relógio da execução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3547872" y="5102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 código linha a linha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3547872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Pyodide</a:t>
            </a:r>
            <a:endParaRPr lang="en-US" sz="1200" dirty="0"/>
          </a:p>
        </p:txBody>
      </p:sp>
      <p:sp>
        <p:nvSpPr>
          <p:cNvPr id="63" name="Observatório"/>
          <p:cNvSpPr/>
          <p:nvPr/>
        </p:nvSpPr>
        <p:spPr>
          <a:xfrm>
            <a:off x="6181344" y="4443984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4" name="marcador 11"/>
          <p:cNvSpPr/>
          <p:nvPr/>
        </p:nvSpPr>
        <p:spPr>
          <a:xfrm>
            <a:off x="6364224" y="4626864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65" name="número 11"/>
          <p:cNvSpPr txBox="1"/>
          <p:nvPr/>
        </p:nvSpPr>
        <p:spPr>
          <a:xfrm>
            <a:off x="6364224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11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839712" y="4645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Observatório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6364224" y="5102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pandas e gráfico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364224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Pyodide + pandas</a:t>
            </a:r>
            <a:endParaRPr lang="en-US" sz="1200" dirty="0"/>
          </a:p>
        </p:txBody>
      </p:sp>
      <p:sp>
        <p:nvSpPr>
          <p:cNvPr id="69" name="Arquivo de memória"/>
          <p:cNvSpPr/>
          <p:nvPr/>
        </p:nvSpPr>
        <p:spPr>
          <a:xfrm>
            <a:off x="8997696" y="4443984"/>
            <a:ext cx="260604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70" name="marcador 12"/>
          <p:cNvSpPr/>
          <p:nvPr/>
        </p:nvSpPr>
        <p:spPr>
          <a:xfrm>
            <a:off x="9180576" y="4626864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71" name="número 12"/>
          <p:cNvSpPr txBox="1"/>
          <p:nvPr/>
        </p:nvSpPr>
        <p:spPr>
          <a:xfrm>
            <a:off x="9180576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12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9656064" y="46451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Arquivo de memória</a:t>
            </a:r>
            <a:endParaRPr lang="en-US" sz="1500" dirty="0"/>
          </a:p>
        </p:txBody>
      </p:sp>
      <p:sp>
        <p:nvSpPr>
          <p:cNvPr id="73" name="Text 71"/>
          <p:cNvSpPr txBox="1"/>
          <p:nvPr/>
        </p:nvSpPr>
        <p:spPr>
          <a:xfrm>
            <a:off x="9180576" y="51023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revisão espaçada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9180576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ts-fsrs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4"/>
                </a:solidFill>
              </a:rPr>
              <a:t>Fases: 1 a 5 Fundação · 6 a 8 Consultas · 9 e 10 Python · 11 e 12 Análise. Entre as fases, um nivelamento prático: passa quem acerta 3 de 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Anatomia de uma tarefa</a:t>
            </a:r>
            <a:endParaRPr lang="en-US" sz="3200" dirty="0"/>
          </a:p>
        </p:txBody>
      </p:sp>
      <p:sp>
        <p:nvSpPr>
          <p:cNvPr id="3" name="bloco de código"/>
          <p:cNvSpPr/>
          <p:nvPr/>
        </p:nvSpPr>
        <p:spPr>
          <a:xfrm>
            <a:off x="548640" y="1417320"/>
            <a:ext cx="63093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rótulo do código"/>
          <p:cNvSpPr txBox="1"/>
          <p:nvPr/>
        </p:nvSpPr>
        <p:spPr>
          <a:xfrm>
            <a:off x="713232" y="1508760"/>
            <a:ext cx="5980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castelo/salas.js, sala 6 (Torre de vigia)</a:t>
            </a:r>
            <a:endParaRPr lang="en-US" sz="1100" dirty="0"/>
          </a:p>
        </p:txBody>
      </p:sp>
      <p:sp>
        <p:nvSpPr>
          <p:cNvPr id="5" name="código"/>
          <p:cNvSpPr txBox="1"/>
          <p:nvPr/>
        </p:nvSpPr>
        <p:spPr>
          <a:xfrm>
            <a:off x="713232" y="1801368"/>
            <a:ext cx="598017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"t1"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tipo: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"sql"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 mais difíceis de Português"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enunciado: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"Mostre id, enunciado e nivel..."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inicial: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id, enunciado, nivel\nFROM questoes\n"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gabarito: "SELECT id, enunciado, nivel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questoes WHERE materia_id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nivel DESC, id LIMIT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ordem: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pista: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"filtre a matéria com WHERE..."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solucao: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id, enunciado, nivel ..."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ok: "ORDER BY com duas colunas resolve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 empate; LIMIT vem por último." 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78040" y="1417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14173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qual motor monta a tarefa: sql, python, escolha, relógio, fsrs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0665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06654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código que já vem no editor, para você completar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7157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gabarito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1576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consulta oficial: o resultado dela é o que vale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364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364992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 a ordem das linhas conta para a correção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0142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pista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0142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aparece no primeiro erro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4663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solucao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46634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aparece só no segundo erro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53126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5312664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porquê do acerto, para fixar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Correção pelo resultado, não pelo texto</a:t>
            </a:r>
            <a:endParaRPr lang="en-US" sz="3200" dirty="0"/>
          </a:p>
        </p:txBody>
      </p:sp>
      <p:sp>
        <p:nvSpPr>
          <p:cNvPr id="3" name="bloco de código"/>
          <p:cNvSpPr/>
          <p:nvPr/>
        </p:nvSpPr>
        <p:spPr>
          <a:xfrm>
            <a:off x="548640" y="141732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rótulo do código"/>
          <p:cNvSpPr txBox="1"/>
          <p:nvPr/>
        </p:nvSpPr>
        <p:spPr>
          <a:xfrm>
            <a:off x="713232" y="15087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Consulta A</a:t>
            </a:r>
            <a:endParaRPr lang="en-US" sz="1100" dirty="0"/>
          </a:p>
        </p:txBody>
      </p:sp>
      <p:sp>
        <p:nvSpPr>
          <p:cNvPr id="5" name="código"/>
          <p:cNvSpPr txBox="1"/>
          <p:nvPr/>
        </p:nvSpPr>
        <p:spPr>
          <a:xfrm>
            <a:off x="713232" y="1801368"/>
            <a:ext cx="314553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materia_id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nivel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6" name="seta"/>
          <p:cNvSpPr/>
          <p:nvPr/>
        </p:nvSpPr>
        <p:spPr>
          <a:xfrm>
            <a:off x="2286000" y="3090672"/>
            <a:ext cx="914" cy="42976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" name="Consulta A resultado"/>
          <p:cNvSpPr/>
          <p:nvPr/>
        </p:nvSpPr>
        <p:spPr>
          <a:xfrm>
            <a:off x="548640" y="361188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8" name="Consulta A sinal círculo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9" name="PiCheckCircle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94106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3794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Certo: mesmas 5 linhas, mesma ordem.</a:t>
            </a:r>
            <a:endParaRPr lang="en-US" sz="1500" dirty="0"/>
          </a:p>
        </p:txBody>
      </p:sp>
      <p:sp>
        <p:nvSpPr>
          <p:cNvPr id="11" name="bloco de código"/>
          <p:cNvSpPr/>
          <p:nvPr/>
        </p:nvSpPr>
        <p:spPr>
          <a:xfrm>
            <a:off x="4297680" y="141732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rótulo do código"/>
          <p:cNvSpPr txBox="1"/>
          <p:nvPr/>
        </p:nvSpPr>
        <p:spPr>
          <a:xfrm>
            <a:off x="4462272" y="15087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Consulta B</a:t>
            </a:r>
            <a:endParaRPr lang="en-US" sz="1100" dirty="0"/>
          </a:p>
        </p:txBody>
      </p:sp>
      <p:sp>
        <p:nvSpPr>
          <p:cNvPr id="13" name="código"/>
          <p:cNvSpPr txBox="1"/>
          <p:nvPr/>
        </p:nvSpPr>
        <p:spPr>
          <a:xfrm>
            <a:off x="4462272" y="1801368"/>
            <a:ext cx="314553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materia_id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nivel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id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seta"/>
          <p:cNvSpPr/>
          <p:nvPr/>
        </p:nvSpPr>
        <p:spPr>
          <a:xfrm>
            <a:off x="6035040" y="3090672"/>
            <a:ext cx="914" cy="42976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Consulta B resultado"/>
          <p:cNvSpPr/>
          <p:nvPr/>
        </p:nvSpPr>
        <p:spPr>
          <a:xfrm>
            <a:off x="4297680" y="361188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16" name="Consulta B sinal círculo"/>
          <p:cNvSpPr/>
          <p:nvPr/>
        </p:nvSpPr>
        <p:spPr>
          <a:xfrm>
            <a:off x="4526280" y="38404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PiCheckCircle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39410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166360" y="3794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Certo: escrita diferente, mesmo resultado.</a:t>
            </a:r>
            <a:endParaRPr lang="en-US" sz="1500" dirty="0"/>
          </a:p>
        </p:txBody>
      </p:sp>
      <p:sp>
        <p:nvSpPr>
          <p:cNvPr id="19" name="bloco de código"/>
          <p:cNvSpPr/>
          <p:nvPr/>
        </p:nvSpPr>
        <p:spPr>
          <a:xfrm>
            <a:off x="8046720" y="141732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rótulo do código"/>
          <p:cNvSpPr txBox="1"/>
          <p:nvPr/>
        </p:nvSpPr>
        <p:spPr>
          <a:xfrm>
            <a:off x="8211312" y="15087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Consulta C</a:t>
            </a:r>
            <a:endParaRPr lang="en-US" sz="1100" dirty="0"/>
          </a:p>
        </p:txBody>
      </p:sp>
      <p:sp>
        <p:nvSpPr>
          <p:cNvPr id="21" name="código"/>
          <p:cNvSpPr txBox="1"/>
          <p:nvPr/>
        </p:nvSpPr>
        <p:spPr>
          <a:xfrm>
            <a:off x="8211312" y="1801368"/>
            <a:ext cx="314553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materia_id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nivel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eta"/>
          <p:cNvSpPr/>
          <p:nvPr/>
        </p:nvSpPr>
        <p:spPr>
          <a:xfrm>
            <a:off x="9784080" y="3090672"/>
            <a:ext cx="914" cy="42976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Consulta C resultado"/>
          <p:cNvSpPr/>
          <p:nvPr/>
        </p:nvSpPr>
        <p:spPr>
          <a:xfrm>
            <a:off x="8046720" y="3611880"/>
            <a:ext cx="34747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</p:sp>
      <p:sp>
        <p:nvSpPr>
          <p:cNvPr id="24" name="Consulta C sinal círculo"/>
          <p:cNvSpPr/>
          <p:nvPr/>
        </p:nvSpPr>
        <p:spPr>
          <a:xfrm>
            <a:off x="8275320" y="3840480"/>
            <a:ext cx="502920" cy="5029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PiWarning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3941064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15400" y="3794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“A linha 2 está diferente.” Sem o id, o empate fica sem ordem.</a:t>
            </a:r>
            <a:endParaRPr lang="en-US" sz="1500" dirty="0"/>
          </a:p>
        </p:txBody>
      </p:sp>
      <p:sp>
        <p:nvSpPr>
          <p:cNvPr id="27" name="comparar.js círculo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8" name="PiListChecks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5312664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34440" y="519379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comparar.js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roda a sua consulta e a oficial e compara as linhas: quantas colunas, quantas linhas, quais valores e, quando importa, a ordem. É a regra 7 do projeto: nunca corrigir comparando texto.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que o banco do castelo mostra no fim</a:t>
            </a:r>
            <a:endParaRPr lang="en-US" sz="3200" dirty="0"/>
          </a:p>
        </p:txBody>
      </p:sp>
      <p:graphicFrame>
        <p:nvGraphicFramePr>
          <p:cNvPr id="3" name="gráfico por matéria" descr=""/>
          <p:cNvGraphicFramePr/>
          <p:nvPr/>
        </p:nvGraphicFramePr>
        <p:xfrm>
          <a:off x="548640" y="13716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463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chemeClr val="accent1"/>
                </a:solidFill>
              </a:rPr>
              <a:t>40,4%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23774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em Direito Administrativo: a matéria que mais derruba a nota no concurso fictício.</a:t>
            </a:r>
            <a:endParaRPr lang="en-US" sz="1500" dirty="0"/>
          </a:p>
        </p:txBody>
      </p:sp>
      <p:sp>
        <p:nvSpPr>
          <p:cNvPr id="6" name="leitura crítica"/>
          <p:cNvSpPr/>
          <p:nvPr/>
        </p:nvSpPr>
        <p:spPr>
          <a:xfrm>
            <a:off x="7589520" y="3429000"/>
            <a:ext cx="4023360" cy="2423160"/>
          </a:xfrm>
          <a:prstGeom prst="roundRect">
            <a:avLst>
              <a:gd name="adj" fmla="val 3774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18120" y="361188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Leitura crítica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Por nível de dificuldade a taxa foi 54,7%, 66,7%, 45,2%, 46,6% e 42,1%: o nível 5 é o pior, mas não há uma escada perfeita. Com poucas questões por nível, parte da diferença é acaso.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Parte 5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Base de Python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Seis peças para ler o código do projeto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Python em seis peças</a:t>
            </a:r>
            <a:endParaRPr lang="en-US" sz="3200" dirty="0"/>
          </a:p>
        </p:txBody>
      </p:sp>
      <p:sp>
        <p:nvSpPr>
          <p:cNvPr id="3" name="Variável"/>
          <p:cNvSpPr/>
          <p:nvPr/>
        </p:nvSpPr>
        <p:spPr>
          <a:xfrm>
            <a:off x="548640" y="137160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marcador 1"/>
          <p:cNvSpPr/>
          <p:nvPr/>
        </p:nvSpPr>
        <p:spPr>
          <a:xfrm>
            <a:off x="777240" y="1572768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5" name="número 1"/>
          <p:cNvSpPr txBox="1"/>
          <p:nvPr/>
        </p:nvSpPr>
        <p:spPr>
          <a:xfrm>
            <a:off x="77724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91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Variável</a:t>
            </a:r>
            <a:endParaRPr lang="en-US" sz="1700" dirty="0"/>
          </a:p>
        </p:txBody>
      </p:sp>
      <p:sp>
        <p:nvSpPr>
          <p:cNvPr id="7" name="código da peça"/>
          <p:cNvSpPr txBox="1"/>
          <p:nvPr/>
        </p:nvSpPr>
        <p:spPr>
          <a:xfrm>
            <a:off x="777240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um nome que guarda um valor</a:t>
            </a:r>
            <a:endParaRPr lang="en-US" sz="1400" dirty="0"/>
          </a:p>
        </p:txBody>
      </p:sp>
      <p:sp>
        <p:nvSpPr>
          <p:cNvPr id="9" name="Lista"/>
          <p:cNvSpPr/>
          <p:nvPr/>
        </p:nvSpPr>
        <p:spPr>
          <a:xfrm>
            <a:off x="4297680" y="137160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0" name="marcador 2"/>
          <p:cNvSpPr/>
          <p:nvPr/>
        </p:nvSpPr>
        <p:spPr>
          <a:xfrm>
            <a:off x="4526280" y="1572768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1" name="número 2"/>
          <p:cNvSpPr txBox="1"/>
          <p:nvPr/>
        </p:nvSpPr>
        <p:spPr>
          <a:xfrm>
            <a:off x="452628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591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Lista</a:t>
            </a:r>
            <a:endParaRPr lang="en-US" sz="1700" dirty="0"/>
          </a:p>
        </p:txBody>
      </p:sp>
      <p:sp>
        <p:nvSpPr>
          <p:cNvPr id="13" name="código da peça"/>
          <p:cNvSpPr txBox="1"/>
          <p:nvPr/>
        </p:nvSpPr>
        <p:spPr>
          <a:xfrm>
            <a:off x="4526280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respostas = [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"E"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788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uma fila de valores, em ordem</a:t>
            </a:r>
            <a:endParaRPr lang="en-US" sz="1400" dirty="0"/>
          </a:p>
        </p:txBody>
      </p:sp>
      <p:sp>
        <p:nvSpPr>
          <p:cNvPr id="15" name="Dicionário"/>
          <p:cNvSpPr/>
          <p:nvPr/>
        </p:nvSpPr>
        <p:spPr>
          <a:xfrm>
            <a:off x="8046720" y="137160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6" name="marcador 3"/>
          <p:cNvSpPr/>
          <p:nvPr/>
        </p:nvSpPr>
        <p:spPr>
          <a:xfrm>
            <a:off x="8275320" y="1572768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7" name="número 3"/>
          <p:cNvSpPr txBox="1"/>
          <p:nvPr/>
        </p:nvSpPr>
        <p:spPr>
          <a:xfrm>
            <a:off x="827532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1591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Dicionário</a:t>
            </a:r>
            <a:endParaRPr lang="en-US" sz="1700" dirty="0"/>
          </a:p>
        </p:txBody>
      </p:sp>
      <p:sp>
        <p:nvSpPr>
          <p:cNvPr id="19" name="código da peça"/>
          <p:cNvSpPr txBox="1"/>
          <p:nvPr/>
        </p:nvSpPr>
        <p:spPr>
          <a:xfrm>
            <a:off x="8275320" y="21031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"Joana"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7889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pares nome e valor</a:t>
            </a:r>
            <a:endParaRPr lang="en-US" sz="1400" dirty="0"/>
          </a:p>
        </p:txBody>
      </p:sp>
      <p:sp>
        <p:nvSpPr>
          <p:cNvPr id="21" name="Função"/>
          <p:cNvSpPr/>
          <p:nvPr/>
        </p:nvSpPr>
        <p:spPr>
          <a:xfrm>
            <a:off x="548640" y="361188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2" name="marcador 4"/>
          <p:cNvSpPr/>
          <p:nvPr/>
        </p:nvSpPr>
        <p:spPr>
          <a:xfrm>
            <a:off x="777240" y="3813048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23" name="número 4"/>
          <p:cNvSpPr txBox="1"/>
          <p:nvPr/>
        </p:nvSpPr>
        <p:spPr>
          <a:xfrm>
            <a:off x="777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31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Função</a:t>
            </a:r>
            <a:endParaRPr lang="en-US" sz="1700" dirty="0"/>
          </a:p>
        </p:txBody>
      </p:sp>
      <p:sp>
        <p:nvSpPr>
          <p:cNvPr id="25" name="código da peça"/>
          <p:cNvSpPr txBox="1"/>
          <p:nvPr/>
        </p:nvSpPr>
        <p:spPr>
          <a:xfrm>
            <a:off x="777240" y="4343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taxa(lista):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029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uma receita com nome: recebe, calcula e devolve</a:t>
            </a:r>
            <a:endParaRPr lang="en-US" sz="1400" dirty="0"/>
          </a:p>
        </p:txBody>
      </p:sp>
      <p:sp>
        <p:nvSpPr>
          <p:cNvPr id="27" name="Condição"/>
          <p:cNvSpPr/>
          <p:nvPr/>
        </p:nvSpPr>
        <p:spPr>
          <a:xfrm>
            <a:off x="4297680" y="361188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8" name="marcador 5"/>
          <p:cNvSpPr/>
          <p:nvPr/>
        </p:nvSpPr>
        <p:spPr>
          <a:xfrm>
            <a:off x="4526280" y="3813048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29" name="número 5"/>
          <p:cNvSpPr txBox="1"/>
          <p:nvPr/>
        </p:nvSpPr>
        <p:spPr>
          <a:xfrm>
            <a:off x="452628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3831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Condição</a:t>
            </a:r>
            <a:endParaRPr lang="en-US" sz="1700" dirty="0"/>
          </a:p>
        </p:txBody>
      </p:sp>
      <p:sp>
        <p:nvSpPr>
          <p:cNvPr id="31" name="código da peça"/>
          <p:cNvSpPr txBox="1"/>
          <p:nvPr/>
        </p:nvSpPr>
        <p:spPr>
          <a:xfrm>
            <a:off x="4526280" y="4343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resposta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</a:t>
            </a:r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029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decide se o bloco roda</a:t>
            </a:r>
            <a:endParaRPr lang="en-US" sz="1400" dirty="0"/>
          </a:p>
        </p:txBody>
      </p:sp>
      <p:sp>
        <p:nvSpPr>
          <p:cNvPr id="33" name="Repetição"/>
          <p:cNvSpPr/>
          <p:nvPr/>
        </p:nvSpPr>
        <p:spPr>
          <a:xfrm>
            <a:off x="8046720" y="3611880"/>
            <a:ext cx="347472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34" name="marcador 6"/>
          <p:cNvSpPr/>
          <p:nvPr/>
        </p:nvSpPr>
        <p:spPr>
          <a:xfrm>
            <a:off x="8275320" y="3813048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35" name="número 6"/>
          <p:cNvSpPr txBox="1"/>
          <p:nvPr/>
        </p:nvSpPr>
        <p:spPr>
          <a:xfrm>
            <a:off x="827532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0" y="3831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Repetição</a:t>
            </a:r>
            <a:endParaRPr lang="en-US" sz="1700" dirty="0"/>
          </a:p>
        </p:txBody>
      </p:sp>
      <p:sp>
        <p:nvSpPr>
          <p:cNvPr id="37" name="código da peça"/>
          <p:cNvSpPr txBox="1"/>
          <p:nvPr/>
        </p:nvSpPr>
        <p:spPr>
          <a:xfrm>
            <a:off x="8275320" y="43434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respostas: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(r)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029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repete o bloco para cada item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 recuo de 4 espaços é o que diz ao Python onde um bloco começa e termina.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Lendo um arquivo real: gerar_estudo.py</a:t>
            </a:r>
            <a:endParaRPr lang="en-US" sz="3200" dirty="0"/>
          </a:p>
        </p:txBody>
      </p:sp>
      <p:sp>
        <p:nvSpPr>
          <p:cNvPr id="3" name="bloco de código"/>
          <p:cNvSpPr/>
          <p:nvPr/>
        </p:nvSpPr>
        <p:spPr>
          <a:xfrm>
            <a:off x="548640" y="1417320"/>
            <a:ext cx="640080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rótulo do código"/>
          <p:cNvSpPr txBox="1"/>
          <p:nvPr/>
        </p:nvSpPr>
        <p:spPr>
          <a:xfrm>
            <a:off x="713232" y="1508760"/>
            <a:ext cx="607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apostila/licoes/dados/gerar_estudo.py (trecho)</a:t>
            </a:r>
            <a:endParaRPr lang="en-US" sz="1100" dirty="0"/>
          </a:p>
        </p:txBody>
      </p:sp>
      <p:sp>
        <p:nvSpPr>
          <p:cNvPr id="5" name="código"/>
          <p:cNvSpPr txBox="1"/>
          <p:nvPr/>
        </p:nvSpPr>
        <p:spPr>
          <a:xfrm>
            <a:off x="713232" y="1801368"/>
            <a:ext cx="607161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MATERIAS =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"Língua Portuguesa"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"Cebraspe"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"Raciocínio Lógico"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"FGV"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texto_sql(valor):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valor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"NULL"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(valor, (int, float)):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str(valor)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str(valor).replace(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"''"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"'"</a:t>
            </a:r>
            <a:endParaRPr lang="en-US" sz="1400" dirty="0"/>
          </a:p>
        </p:txBody>
      </p:sp>
      <p:sp>
        <p:nvSpPr>
          <p:cNvPr id="6" name="marcador 1"/>
          <p:cNvSpPr/>
          <p:nvPr/>
        </p:nvSpPr>
        <p:spPr>
          <a:xfrm>
            <a:off x="7223760" y="1417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7" name="número 1"/>
          <p:cNvSpPr txBox="1"/>
          <p:nvPr/>
        </p:nvSpPr>
        <p:spPr>
          <a:xfrm>
            <a:off x="72237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14356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random.seed(2026)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7830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fixa o sorteio: o arquivo sai sempre igual, e as respostas dos exercícios não mudam.</a:t>
            </a:r>
            <a:endParaRPr lang="en-US" sz="1400" dirty="0"/>
          </a:p>
        </p:txBody>
      </p:sp>
      <p:sp>
        <p:nvSpPr>
          <p:cNvPr id="10" name="marcador 2"/>
          <p:cNvSpPr/>
          <p:nvPr/>
        </p:nvSpPr>
        <p:spPr>
          <a:xfrm>
            <a:off x="7223760" y="2560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1" name="número 2"/>
          <p:cNvSpPr txBox="1"/>
          <p:nvPr/>
        </p:nvSpPr>
        <p:spPr>
          <a:xfrm>
            <a:off x="72237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5786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MATERIAS = [...]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9260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uma lista de tuplas; cada tupla é uma linha da tabela materias.</a:t>
            </a:r>
            <a:endParaRPr lang="en-US" sz="1400" dirty="0"/>
          </a:p>
        </p:txBody>
      </p:sp>
      <p:sp>
        <p:nvSpPr>
          <p:cNvPr id="14" name="marcador 3"/>
          <p:cNvSpPr/>
          <p:nvPr/>
        </p:nvSpPr>
        <p:spPr>
          <a:xfrm>
            <a:off x="7223760" y="3703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5" name="número 3"/>
          <p:cNvSpPr txBox="1"/>
          <p:nvPr/>
        </p:nvSpPr>
        <p:spPr>
          <a:xfrm>
            <a:off x="72237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37216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texto_sql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40690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converte um valor do Python em texto SQL: None vira NULL, número vira número.</a:t>
            </a:r>
            <a:endParaRPr lang="en-US" sz="1400" dirty="0"/>
          </a:p>
        </p:txBody>
      </p:sp>
      <p:sp>
        <p:nvSpPr>
          <p:cNvPr id="18" name="marcador 4"/>
          <p:cNvSpPr/>
          <p:nvPr/>
        </p:nvSpPr>
        <p:spPr>
          <a:xfrm>
            <a:off x="7223760" y="4846320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9" name="número 4"/>
          <p:cNvSpPr txBox="1"/>
          <p:nvPr/>
        </p:nvSpPr>
        <p:spPr>
          <a:xfrm>
            <a:off x="722376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8646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replace("'", "''")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521208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dobra o apóstrofo: D'Ávila vira D''Ávila. É o erro das aspas que o castelo ensina.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Lendo relogio.py: o Python vigiando o Python</a:t>
            </a:r>
            <a:endParaRPr lang="en-US" sz="3200" dirty="0"/>
          </a:p>
        </p:txBody>
      </p:sp>
      <p:sp>
        <p:nvSpPr>
          <p:cNvPr id="3" name="bloco de código"/>
          <p:cNvSpPr/>
          <p:nvPr/>
        </p:nvSpPr>
        <p:spPr>
          <a:xfrm>
            <a:off x="548640" y="1417320"/>
            <a:ext cx="585216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rótulo do código"/>
          <p:cNvSpPr txBox="1"/>
          <p:nvPr/>
        </p:nvSpPr>
        <p:spPr>
          <a:xfrm>
            <a:off x="713232" y="1508760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castelo/relogio.py (simplificado)</a:t>
            </a:r>
            <a:endParaRPr lang="en-US" sz="1100" dirty="0"/>
          </a:p>
        </p:txBody>
      </p:sp>
      <p:sp>
        <p:nvSpPr>
          <p:cNvPr id="5" name="código"/>
          <p:cNvSpPr txBox="1"/>
          <p:nvPr/>
        </p:nvSpPr>
        <p:spPr>
          <a:xfrm>
            <a:off x="713232" y="1801368"/>
            <a:ext cx="552297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= []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rastro(frame, evento, arg):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evento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"line"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passos.append({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"linha"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frame.f_lineno,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"vars"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dict(frame.f_locals),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rastro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sys.settrace(rastro)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taxa_de_acerto([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sys.settrace(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PiClockDuotone círculo"/>
          <p:cNvSpPr/>
          <p:nvPr/>
        </p:nvSpPr>
        <p:spPr>
          <a:xfrm>
            <a:off x="672084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iClock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508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14538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sys.settrace(rastro)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18013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pede ao Python para chamar rastro a cada linha executada.</a:t>
            </a:r>
            <a:endParaRPr lang="en-US" sz="1400" dirty="0"/>
          </a:p>
        </p:txBody>
      </p:sp>
      <p:sp>
        <p:nvSpPr>
          <p:cNvPr id="10" name="PiMagnifyingGlassDuotone círculo"/>
          <p:cNvSpPr/>
          <p:nvPr/>
        </p:nvSpPr>
        <p:spPr>
          <a:xfrm>
            <a:off x="6720840" y="2560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iMagnifyingGlass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651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5968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frame.f_lineno e f_locals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9443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número da linha e as variáveis daquele momento.</a:t>
            </a:r>
            <a:endParaRPr lang="en-US" sz="1400" dirty="0"/>
          </a:p>
        </p:txBody>
      </p:sp>
      <p:sp>
        <p:nvSpPr>
          <p:cNvPr id="14" name="PiListBulletsDuotone círculo"/>
          <p:cNvSpPr/>
          <p:nvPr/>
        </p:nvSpPr>
        <p:spPr>
          <a:xfrm>
            <a:off x="6720840" y="3703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iListBullets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794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60920" y="37398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passos.append(...)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60920" y="40873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cada linha executada vira um passo numa lista: 13 passos para três valores.</a:t>
            </a:r>
            <a:endParaRPr lang="en-US" sz="1400" dirty="0"/>
          </a:p>
        </p:txBody>
      </p:sp>
      <p:sp>
        <p:nvSpPr>
          <p:cNvPr id="18" name="PiFilmStripDuotone círculo"/>
          <p:cNvSpPr/>
          <p:nvPr/>
        </p:nvSpPr>
        <p:spPr>
          <a:xfrm>
            <a:off x="6720840" y="4846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PiFilmStrip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9377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60920" y="48828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Clip.execucao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7360920" y="52303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motor de animação desenha cada passo, como um teste de mesa.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pandas em quatro movimentos</a:t>
            </a:r>
            <a:endParaRPr lang="en-US" sz="3200" dirty="0"/>
          </a:p>
        </p:txBody>
      </p:sp>
      <p:sp>
        <p:nvSpPr>
          <p:cNvPr id="3" name="df"/>
          <p:cNvSpPr/>
          <p:nvPr/>
        </p:nvSpPr>
        <p:spPr>
          <a:xfrm>
            <a:off x="548640" y="141732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4" name="marcador 1"/>
          <p:cNvSpPr/>
          <p:nvPr/>
        </p:nvSpPr>
        <p:spPr>
          <a:xfrm>
            <a:off x="777240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5" name="número 1"/>
          <p:cNvSpPr txBox="1"/>
          <p:nvPr/>
        </p:nvSpPr>
        <p:spPr>
          <a:xfrm>
            <a:off x="7772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tabela dentro do Python (DataFrame)</a:t>
            </a:r>
            <a:endParaRPr lang="en-US" sz="1400" dirty="0"/>
          </a:p>
        </p:txBody>
      </p:sp>
      <p:sp>
        <p:nvSpPr>
          <p:cNvPr id="8" name="seta"/>
          <p:cNvSpPr/>
          <p:nvPr/>
        </p:nvSpPr>
        <p:spPr>
          <a:xfrm>
            <a:off x="3127248" y="2395728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9" name=".groupby(&quot;materia&quot;)"/>
          <p:cNvSpPr/>
          <p:nvPr/>
        </p:nvSpPr>
        <p:spPr>
          <a:xfrm>
            <a:off x="3364992" y="141732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0" name="marcador 2"/>
          <p:cNvSpPr/>
          <p:nvPr/>
        </p:nvSpPr>
        <p:spPr>
          <a:xfrm>
            <a:off x="3593592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1" name="número 2"/>
          <p:cNvSpPr txBox="1"/>
          <p:nvPr/>
        </p:nvSpPr>
        <p:spPr>
          <a:xfrm>
            <a:off x="3593592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.groupby("materia")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separa as linhas em grupos, um por matéria</a:t>
            </a:r>
            <a:endParaRPr lang="en-US" sz="1400" dirty="0"/>
          </a:p>
        </p:txBody>
      </p:sp>
      <p:sp>
        <p:nvSpPr>
          <p:cNvPr id="14" name="seta"/>
          <p:cNvSpPr/>
          <p:nvPr/>
        </p:nvSpPr>
        <p:spPr>
          <a:xfrm>
            <a:off x="5943600" y="2395728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5" name="[&quot;acertou&quot;].mean()"/>
          <p:cNvSpPr/>
          <p:nvPr/>
        </p:nvSpPr>
        <p:spPr>
          <a:xfrm>
            <a:off x="6181344" y="141732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6" name="marcador 3"/>
          <p:cNvSpPr/>
          <p:nvPr/>
        </p:nvSpPr>
        <p:spPr>
          <a:xfrm>
            <a:off x="6409944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17" name="número 3"/>
          <p:cNvSpPr txBox="1"/>
          <p:nvPr/>
        </p:nvSpPr>
        <p:spPr>
          <a:xfrm>
            <a:off x="6409944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["acertou"].mean()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média de cada grupo: True vale 1, False vale 0</a:t>
            </a:r>
            <a:endParaRPr lang="en-US" sz="1400" dirty="0"/>
          </a:p>
        </p:txBody>
      </p:sp>
      <p:sp>
        <p:nvSpPr>
          <p:cNvPr id="20" name="seta"/>
          <p:cNvSpPr/>
          <p:nvPr/>
        </p:nvSpPr>
        <p:spPr>
          <a:xfrm>
            <a:off x="8759952" y="2395728"/>
            <a:ext cx="219456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.idxmin()"/>
          <p:cNvSpPr/>
          <p:nvPr/>
        </p:nvSpPr>
        <p:spPr>
          <a:xfrm>
            <a:off x="8997696" y="1417320"/>
            <a:ext cx="256032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2" name="marcador 4"/>
          <p:cNvSpPr/>
          <p:nvPr/>
        </p:nvSpPr>
        <p:spPr>
          <a:xfrm>
            <a:off x="9226296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23" name="número 4"/>
          <p:cNvSpPr txBox="1"/>
          <p:nvPr/>
        </p:nvSpPr>
        <p:spPr>
          <a:xfrm>
            <a:off x="9226296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.idxmin()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nome do grupo com o menor valor</a:t>
            </a:r>
            <a:endParaRPr lang="en-US" sz="1400" dirty="0"/>
          </a:p>
        </p:txBody>
      </p:sp>
      <p:sp>
        <p:nvSpPr>
          <p:cNvPr id="26" name="bloco de código"/>
          <p:cNvSpPr/>
          <p:nvPr/>
        </p:nvSpPr>
        <p:spPr>
          <a:xfrm>
            <a:off x="548640" y="370332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rótulo do código"/>
          <p:cNvSpPr txBox="1"/>
          <p:nvPr/>
        </p:nvSpPr>
        <p:spPr>
          <a:xfrm>
            <a:off x="713232" y="3794760"/>
            <a:ext cx="10735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Os quatro numa linha (sala 11)</a:t>
            </a:r>
            <a:endParaRPr lang="en-US" sz="1100" dirty="0"/>
          </a:p>
        </p:txBody>
      </p:sp>
      <p:sp>
        <p:nvSpPr>
          <p:cNvPr id="28" name="código"/>
          <p:cNvSpPr txBox="1"/>
          <p:nvPr/>
        </p:nvSpPr>
        <p:spPr>
          <a:xfrm>
            <a:off x="713232" y="4087368"/>
            <a:ext cx="10735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pior = df.groupby(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"materia"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"acertou"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].mean().idxmin()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pior = "Direito Administrativo"</a:t>
            </a:r>
            <a:endParaRPr lang="en-US" sz="1500" dirty="0"/>
          </a:p>
        </p:txBody>
      </p:sp>
      <p:sp>
        <p:nvSpPr>
          <p:cNvPr id="29" name="bloco de código"/>
          <p:cNvSpPr/>
          <p:nvPr/>
        </p:nvSpPr>
        <p:spPr>
          <a:xfrm>
            <a:off x="548640" y="4892040"/>
            <a:ext cx="6583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0" name="rótulo do código"/>
          <p:cNvSpPr txBox="1"/>
          <p:nvPr/>
        </p:nvSpPr>
        <p:spPr>
          <a:xfrm>
            <a:off x="713232" y="4983480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O mesmo em SQL</a:t>
            </a:r>
            <a:endParaRPr lang="en-US" sz="1100" dirty="0"/>
          </a:p>
        </p:txBody>
      </p:sp>
      <p:sp>
        <p:nvSpPr>
          <p:cNvPr id="31" name="código"/>
          <p:cNvSpPr txBox="1"/>
          <p:nvPr/>
        </p:nvSpPr>
        <p:spPr>
          <a:xfrm>
            <a:off x="713232" y="5276088"/>
            <a:ext cx="6254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m.nome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respostas 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questoes q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q.id = r.questao_id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materias m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m.id = q.materia_id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m.nome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9834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pandas é a ferramenta número um de análise em Python e é cobrada em vagas e provas de ciência de dados.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Pratique no próprio projeto</a:t>
            </a:r>
            <a:endParaRPr lang="en-US" sz="3200" dirty="0"/>
          </a:p>
        </p:txBody>
      </p:sp>
      <p:sp>
        <p:nvSpPr>
          <p:cNvPr id="3" name="Mude a semente"/>
          <p:cNvSpPr/>
          <p:nvPr/>
        </p:nvSpPr>
        <p:spPr>
          <a:xfrm>
            <a:off x="548640" y="1417320"/>
            <a:ext cx="3474720" cy="36576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4" name="PiArrowsClockwiseDuotone círculo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iArrowsClockwiseDuot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8050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Mude a semente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Em gerar_estudo.py, troque 2026 por 2027.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Rode o arquivo e veja o git diff.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Pergunta: o que mudou e o que ficou igual?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Depois volte para 2026: os testes contam 382 respostas.</a:t>
            </a:r>
            <a:endParaRPr lang="en-US" sz="1500" dirty="0"/>
          </a:p>
        </p:txBody>
      </p:sp>
      <p:sp>
        <p:nvSpPr>
          <p:cNvPr id="8" name="Escreva uma função"/>
          <p:cNvSpPr/>
          <p:nvPr/>
        </p:nvSpPr>
        <p:spPr>
          <a:xfrm>
            <a:off x="4297680" y="1417320"/>
            <a:ext cx="3474720" cy="36576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9" name="PiFunctionDuotone círculo"/>
          <p:cNvSpPr/>
          <p:nvPr/>
        </p:nvSpPr>
        <p:spPr>
          <a:xfrm>
            <a:off x="457200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iFunctionDuot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386" y="180502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Escreva uma função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brancos_por_aluno(respostas): devolve um dicionário {aluno: quantas em branco}.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Use for, if ... is None e um dicionário.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Teste na Oficina Python do castelo.</a:t>
            </a:r>
            <a:endParaRPr lang="en-US" sz="1500" dirty="0"/>
          </a:p>
        </p:txBody>
      </p:sp>
      <p:sp>
        <p:nvSpPr>
          <p:cNvPr id="13" name="Leia um teste"/>
          <p:cNvSpPr/>
          <p:nvPr/>
        </p:nvSpPr>
        <p:spPr>
          <a:xfrm>
            <a:off x="8046720" y="1417320"/>
            <a:ext cx="3474720" cy="3657600"/>
          </a:xfrm>
          <a:prstGeom prst="roundRect">
            <a:avLst>
              <a:gd name="adj" fmla="val 2632"/>
            </a:avLst>
          </a:prstGeom>
          <a:solidFill>
            <a:schemeClr val="bg2"/>
          </a:solidFill>
          <a:ln/>
        </p:spPr>
      </p:sp>
      <p:sp>
        <p:nvSpPr>
          <p:cNvPr id="14" name="PiShieldCheckDuotone círculo"/>
          <p:cNvSpPr/>
          <p:nvPr/>
        </p:nvSpPr>
        <p:spPr>
          <a:xfrm>
            <a:off x="8321040" y="1691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iShieldCheckDuot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426" y="180502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Leia um teste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Abra tests/apostila-castelo.test.ts.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Ache onde ele confere as 382 respostas.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Explique em 3 linhas o que esse teste protege.</a:t>
            </a:r>
            <a:endParaRPr lang="en-US" sz="1500" dirty="0"/>
          </a:p>
        </p:txBody>
      </p:sp>
      <p:sp>
        <p:nvSpPr>
          <p:cNvPr id="18" name="ritmo círculo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9" name="PiClockDuot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544982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53766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Um por dia, 15 minutos cada.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Errar faz parte: o git guarda a versão anterior, e git restore &lt;arquivo&gt; desfaz o que você mudou.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Glossário de bolso</a:t>
            </a:r>
            <a:endParaRPr lang="en-US" sz="3200" dirty="0"/>
          </a:p>
        </p:txBody>
      </p:sp>
      <p:graphicFrame>
        <p:nvGraphicFramePr>
          <p:cNvPr id="32" name="glossá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Commit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uma foto das mudanças, com uma frase dizendo o que mudou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Push e pull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enviar as suas fotos ao GitHub; trazer as que estão lá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CI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 robô que roda os testes a cada envio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CDN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servidor que entrega bibliotecas prontas, como o PGlite, rápido e de perto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WebAssembly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formato que roda no navegador programas feitos em outras linguagens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IndexedDB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 banco que o navegador oferece para guardar dados no aparelho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localStorage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uma gaveta simples do navegador para guardar texto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Service worker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ajudante do navegador que guarda os arquivos para funcionar sem internet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PWA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site que se instala como app no celular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Licença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as regras de uso de código e desenho de outras pessoas (MIT, CC0, CC BY)</a:t>
                      </a:r>
                      <a:endParaRPr lang="en-US" sz="15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733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Onde mexer primeiro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Do mais barato e visível ao mais caro</a:t>
            </a:r>
            <a:endParaRPr lang="en-US" sz="2000" dirty="0"/>
          </a:p>
        </p:txBody>
      </p:sp>
      <p:sp>
        <p:nvSpPr>
          <p:cNvPr id="5" name="passo 1"/>
          <p:cNvSpPr/>
          <p:nvPr/>
        </p:nvSpPr>
        <p:spPr>
          <a:xfrm>
            <a:off x="731520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Avatares e botões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0468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exemplos para você escolher antes de aplicar</a:t>
            </a:r>
            <a:endParaRPr lang="en-US" sz="1400" dirty="0"/>
          </a:p>
        </p:txBody>
      </p:sp>
      <p:sp>
        <p:nvSpPr>
          <p:cNvPr id="9" name="passo 2"/>
          <p:cNvSpPr/>
          <p:nvPr/>
        </p:nvSpPr>
        <p:spPr>
          <a:xfrm>
            <a:off x="2953512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53512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5120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FSRS nas lições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53512" y="550468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trocar as caixas fixas de licoes/motor.js</a:t>
            </a:r>
            <a:endParaRPr lang="en-US" sz="1400" dirty="0"/>
          </a:p>
        </p:txBody>
      </p:sp>
      <p:sp>
        <p:nvSpPr>
          <p:cNvPr id="13" name="passo 3"/>
          <p:cNvSpPr/>
          <p:nvPr/>
        </p:nvSpPr>
        <p:spPr>
          <a:xfrm>
            <a:off x="5175504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75504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5120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SQL nas lições de BD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550468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PGlite e comparar.js dentro das lições</a:t>
            </a:r>
            <a:endParaRPr lang="en-US" sz="1400" dirty="0"/>
          </a:p>
        </p:txBody>
      </p:sp>
      <p:sp>
        <p:nvSpPr>
          <p:cNvPr id="17" name="passo 4"/>
          <p:cNvSpPr/>
          <p:nvPr/>
        </p:nvSpPr>
        <p:spPr>
          <a:xfrm>
            <a:off x="7397496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97496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97496" y="5120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Python nas lições PY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97496" y="550468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o mesmo laboratório com Pyodide</a:t>
            </a:r>
            <a:endParaRPr lang="en-US" sz="1400" dirty="0"/>
          </a:p>
        </p:txBody>
      </p:sp>
      <p:sp>
        <p:nvSpPr>
          <p:cNvPr id="21" name="passo 5"/>
          <p:cNvSpPr/>
          <p:nvPr/>
        </p:nvSpPr>
        <p:spPr>
          <a:xfrm>
            <a:off x="9619488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19488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19488" y="51206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App Next.js, Fase 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19488" y="550468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reaproveitar comparar.js e salas.js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mínio">
  <a:themeElements>
    <a:clrScheme name="Domínio">
      <a:dk1>
        <a:srgbClr val="14171F"/>
      </a:dk1>
      <a:lt1>
        <a:srgbClr val="FFFFFF"/>
      </a:lt1>
      <a:dk2>
        <a:srgbClr val="0D1017"/>
      </a:dk2>
      <a:lt2>
        <a:srgbClr val="F3F5F8"/>
      </a:lt2>
      <a:accent1>
        <a:srgbClr val="2457D4"/>
      </a:accent1>
      <a:accent2>
        <a:srgbClr val="13804A"/>
      </a:accent2>
      <a:accent3>
        <a:srgbClr val="9A5800"/>
      </a:accent3>
      <a:accent4>
        <a:srgbClr val="667085"/>
      </a:accent4>
      <a:accent5>
        <a:srgbClr val="8DB8FF"/>
      </a:accent5>
      <a:accent6>
        <a:srgbClr val="C4283D"/>
      </a:accent6>
      <a:hlink>
        <a:srgbClr val="2457D4"/>
      </a:hlink>
      <a:folHlink>
        <a:srgbClr val="1C45B0"/>
      </a:folHlink>
    </a:clrScheme>
    <a:fontScheme name="Domín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Domínio por dentro</dc:title>
  <dc:subject>Como o app funciona, onde entra cada linguagem e o que cada repositório acrescenta</dc:subject>
  <dc:creator>Kaio</dc:creator>
  <cp:lastModifiedBy>Kaio</cp:lastModifiedBy>
  <cp:revision>1</cp:revision>
  <dcterms:created xsi:type="dcterms:W3CDTF">2026-10-20T19:09:41Z</dcterms:created>
  <dcterms:modified xsi:type="dcterms:W3CDTF">2026-10-20T19:09:41Z</dcterms:modified>
</cp:coreProperties>
</file>